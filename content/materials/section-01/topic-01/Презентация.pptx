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4.png"/><Relationship Id="rId5" Type="http://schemas.openxmlformats.org/officeDocument/2006/relationships/image" Target="../media/image-5-2.png"/><Relationship Id="rId6" Type="http://schemas.openxmlformats.org/officeDocument/2006/relationships/image" Target="../media/image-5-2.png"/><Relationship Id="rId7" Type="http://schemas.openxmlformats.org/officeDocument/2006/relationships/image" Target="../media/image-5-7.png"/><Relationship Id="rId8" Type="http://schemas.openxmlformats.org/officeDocument/2006/relationships/image" Target="../media/image-5-2.png"/><Relationship Id="rId9" Type="http://schemas.openxmlformats.org/officeDocument/2006/relationships/image" Target="../media/image-5-2.png"/><Relationship Id="rId10" Type="http://schemas.openxmlformats.org/officeDocument/2006/relationships/image" Target="../media/image-5-10.png"/><Relationship Id="rId11" Type="http://schemas.openxmlformats.org/officeDocument/2006/relationships/image" Target="../media/image-5-2.png"/><Relationship Id="rId12" Type="http://schemas.openxmlformats.org/officeDocument/2006/relationships/image" Target="../media/image-5-2.pn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image" Target="../media/image-8-2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F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029200" cy="5029200"/>
          </a:xfrm>
          <a:prstGeom prst="ellipse">
            <a:avLst/>
          </a:prstGeom>
          <a:solidFill>
            <a:srgbClr val="241C8C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206240"/>
            <a:ext cx="5486400" cy="5486400"/>
          </a:xfrm>
          <a:prstGeom prst="ellipse">
            <a:avLst/>
          </a:prstGeom>
          <a:solidFill>
            <a:srgbClr val="241C8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EASYCODE AI · ОСНОВЫ ПРОГРАММИРОВАНИЯ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такое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алгоритм?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Учимся давать компьютеру понятные команды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778240" y="1965960"/>
            <a:ext cx="2834640" cy="2834640"/>
          </a:xfrm>
          <a:prstGeom prst="ellipse">
            <a:avLst/>
          </a:prstGeom>
          <a:solidFill>
            <a:srgbClr val="241C8C"/>
          </a:solidFill>
          <a:ln/>
        </p:spPr>
      </p:sp>
      <p:pic>
        <p:nvPicPr>
          <p:cNvPr id="8" name="Image 0" descr="icons_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6822" y="2504542"/>
            <a:ext cx="1757477" cy="175747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49640" y="1737360"/>
            <a:ext cx="3291840" cy="3291840"/>
          </a:xfrm>
          <a:prstGeom prst="ellipse">
            <a:avLst/>
          </a:prstGeom>
          <a:ln w="38100">
            <a:solidFill>
              <a:srgbClr val="00D9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УРОКА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41C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Чему мы научимся сегодня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22960" cy="822960"/>
          </a:xfrm>
          <a:prstGeom prst="ellipse">
            <a:avLst/>
          </a:prstGeom>
          <a:solidFill>
            <a:srgbClr val="3B2FD4"/>
          </a:solidFill>
          <a:ln/>
        </p:spPr>
      </p:sp>
      <p:pic>
        <p:nvPicPr>
          <p:cNvPr id="5" name="Image 0" descr="icons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" y="201396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10512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Понимать, что такое алгоритм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822960" cy="82296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8" name="Image 1" descr="icons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06" y="3111246"/>
            <a:ext cx="452628" cy="4526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907792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Находить алгоритмы в повседневной жизни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548640" y="4023360"/>
            <a:ext cx="822960" cy="822960"/>
          </a:xfrm>
          <a:prstGeom prst="ellipse">
            <a:avLst/>
          </a:prstGeom>
          <a:solidFill>
            <a:srgbClr val="3B2FD4"/>
          </a:solidFill>
          <a:ln/>
        </p:spPr>
      </p:sp>
      <p:pic>
        <p:nvPicPr>
          <p:cNvPr id="11" name="Image 2" descr="icons_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" y="4208526"/>
            <a:ext cx="452628" cy="4526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4005072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Понимать, зачем нужен правильный порядок действий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548640" y="5120640"/>
            <a:ext cx="822960" cy="82296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14" name="Image 3" descr="icons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06" y="5305806"/>
            <a:ext cx="452628" cy="4526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5102352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Составлять простой алгоритм самостоятельно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2F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286000"/>
            <a:ext cx="5943600" cy="5943600"/>
          </a:xfrm>
          <a:prstGeom prst="ellipse">
            <a:avLst/>
          </a:prstGeom>
          <a:solidFill>
            <a:srgbClr val="241C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ПОНЯТИЕ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такое алгоритм?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7589520" cy="265176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B155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34440" y="2423160"/>
            <a:ext cx="6766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3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</a:t>
            </a:r>
            <a:pPr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это последовательность команд, которые выполняются по порядку, чтобы получить нужный результат.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006840" y="2377440"/>
            <a:ext cx="2286000" cy="228600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8" name="Image 0" descr="icons_g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1190" y="2891790"/>
            <a:ext cx="1257300" cy="12573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НАБЛЮДЕНИЕ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41C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Алгоритмы вокруг нас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выполняем алгоритмы каждый день, даже не замечая этого!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9496" y="2331720"/>
            <a:ext cx="2011680" cy="28346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55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51760"/>
            <a:ext cx="1005840" cy="1005840"/>
          </a:xfrm>
          <a:prstGeom prst="ellipse">
            <a:avLst/>
          </a:prstGeom>
          <a:solidFill>
            <a:srgbClr val="3B2FD4"/>
          </a:solidFill>
          <a:ln/>
        </p:spPr>
      </p:sp>
      <p:pic>
        <p:nvPicPr>
          <p:cNvPr id="7" name="Image 0" descr="icons_too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730" y="2878074"/>
            <a:ext cx="553212" cy="5532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" y="38404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Чистим зубы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807208" y="2331720"/>
            <a:ext cx="2011680" cy="28346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55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10128" y="2651760"/>
            <a:ext cx="1005840" cy="100584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11" name="Image 1" descr="icons_sandwi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442" y="2878074"/>
            <a:ext cx="553212" cy="5532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98648" y="38404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Готовим бутерброд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074920" y="2331720"/>
            <a:ext cx="2011680" cy="28346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55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577840" y="2651760"/>
            <a:ext cx="1005840" cy="100584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5" name="Image 2" descr="icons_scho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154" y="2878074"/>
            <a:ext cx="553212" cy="5532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66360" y="38404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Идём из дома в школу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7342632" y="2331720"/>
            <a:ext cx="2011680" cy="28346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550">
                <a:alpha val="1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845552" y="2651760"/>
            <a:ext cx="1005840" cy="1005840"/>
          </a:xfrm>
          <a:prstGeom prst="ellipse">
            <a:avLst/>
          </a:prstGeom>
          <a:solidFill>
            <a:srgbClr val="3B2FD4"/>
          </a:solidFill>
          <a:ln/>
        </p:spPr>
      </p:sp>
      <p:pic>
        <p:nvPicPr>
          <p:cNvPr id="19" name="Image 3" descr="icons_puzz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1866" y="2878074"/>
            <a:ext cx="553212" cy="5532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34072" y="38404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Собираем конструктор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9610344" y="2331720"/>
            <a:ext cx="2011680" cy="28346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550">
                <a:alpha val="1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113264" y="2651760"/>
            <a:ext cx="1005840" cy="100584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23" name="Image 4" descr="icons_gamep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9578" y="2878074"/>
            <a:ext cx="553212" cy="5532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701784" y="38404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Запускаем игру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АЛГОРИТМА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41C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Как приготовить чай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58952" y="2286000"/>
            <a:ext cx="1938528" cy="228600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55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72184" y="2048256"/>
            <a:ext cx="512064" cy="512064"/>
          </a:xfrm>
          <a:prstGeom prst="ellipse">
            <a:avLst/>
          </a:prstGeom>
          <a:solidFill>
            <a:srgbClr val="FF6B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20482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1016" y="2670048"/>
            <a:ext cx="914400" cy="914400"/>
          </a:xfrm>
          <a:prstGeom prst="ellipse">
            <a:avLst/>
          </a:prstGeom>
          <a:solidFill>
            <a:srgbClr val="3B2FD4"/>
          </a:solidFill>
          <a:ln/>
        </p:spPr>
      </p:sp>
      <p:pic>
        <p:nvPicPr>
          <p:cNvPr id="8" name="Image 0" descr="icons_m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756" y="2875788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2104" y="3703320"/>
            <a:ext cx="17922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 чашку</a:t>
            </a:r>
            <a:endParaRPr lang="en-US" sz="1350" dirty="0"/>
          </a:p>
        </p:txBody>
      </p:sp>
      <p:pic>
        <p:nvPicPr>
          <p:cNvPr id="10" name="Image 1" descr="icons_arrow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3108960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79192" y="3063240"/>
            <a:ext cx="292608" cy="292608"/>
          </a:xfrm>
          <a:prstGeom prst="ellipse">
            <a:avLst/>
          </a:prstGeom>
          <a:solidFill>
            <a:srgbClr val="3B2FD4"/>
          </a:solidFill>
          <a:ln/>
        </p:spPr>
      </p:sp>
      <p:pic>
        <p:nvPicPr>
          <p:cNvPr id="12" name="Image 2" descr="icons_arrow_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768" y="3108960"/>
            <a:ext cx="201168" cy="20116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935224" y="2286000"/>
            <a:ext cx="1938528" cy="228600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550">
                <a:alpha val="1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648456" y="2048256"/>
            <a:ext cx="512064" cy="512064"/>
          </a:xfrm>
          <a:prstGeom prst="ellipse">
            <a:avLst/>
          </a:prstGeom>
          <a:solidFill>
            <a:srgbClr val="FF6B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648456" y="20482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3447288" y="2670048"/>
            <a:ext cx="914400" cy="914400"/>
          </a:xfrm>
          <a:prstGeom prst="ellipse">
            <a:avLst/>
          </a:prstGeom>
          <a:solidFill>
            <a:srgbClr val="3B2FD4"/>
          </a:solidFill>
          <a:ln/>
        </p:spPr>
      </p:sp>
      <p:pic>
        <p:nvPicPr>
          <p:cNvPr id="17" name="Image 3" descr="icons_lea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028" y="2875788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008376" y="3703320"/>
            <a:ext cx="17922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Положить чай</a:t>
            </a:r>
            <a:endParaRPr lang="en-US" sz="1350" dirty="0"/>
          </a:p>
        </p:txBody>
      </p:sp>
      <p:pic>
        <p:nvPicPr>
          <p:cNvPr id="19" name="Image 4" descr="icons_arrow_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08960"/>
            <a:ext cx="219456" cy="219456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855464" y="3063240"/>
            <a:ext cx="292608" cy="292608"/>
          </a:xfrm>
          <a:prstGeom prst="ellipse">
            <a:avLst/>
          </a:prstGeom>
          <a:solidFill>
            <a:srgbClr val="3B2FD4"/>
          </a:solidFill>
          <a:ln/>
        </p:spPr>
      </p:sp>
      <p:pic>
        <p:nvPicPr>
          <p:cNvPr id="21" name="Image 5" descr="icons_arrow_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108960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111496" y="2286000"/>
            <a:ext cx="1938528" cy="228600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550">
                <a:alpha val="15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5824728" y="2048256"/>
            <a:ext cx="512064" cy="512064"/>
          </a:xfrm>
          <a:prstGeom prst="ellipse">
            <a:avLst/>
          </a:prstGeom>
          <a:solidFill>
            <a:srgbClr val="FF6B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5824728" y="20482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hape 17"/>
          <p:cNvSpPr/>
          <p:nvPr/>
        </p:nvSpPr>
        <p:spPr>
          <a:xfrm>
            <a:off x="5623560" y="2670048"/>
            <a:ext cx="914400" cy="914400"/>
          </a:xfrm>
          <a:prstGeom prst="ellipse">
            <a:avLst/>
          </a:prstGeom>
          <a:solidFill>
            <a:srgbClr val="3B2FD4"/>
          </a:solidFill>
          <a:ln/>
        </p:spPr>
      </p:sp>
      <p:pic>
        <p:nvPicPr>
          <p:cNvPr id="26" name="Image 6" descr="icons_cup_wat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9300" y="2875788"/>
            <a:ext cx="502920" cy="50292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184648" y="3703320"/>
            <a:ext cx="17922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Налить горячую воду</a:t>
            </a:r>
            <a:endParaRPr lang="en-US" sz="1350" dirty="0"/>
          </a:p>
        </p:txBody>
      </p:sp>
      <p:pic>
        <p:nvPicPr>
          <p:cNvPr id="28" name="Image 7" descr="icons_arrow_r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8312" y="3108960"/>
            <a:ext cx="219456" cy="219456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7031736" y="3063240"/>
            <a:ext cx="292608" cy="292608"/>
          </a:xfrm>
          <a:prstGeom prst="ellipse">
            <a:avLst/>
          </a:prstGeom>
          <a:solidFill>
            <a:srgbClr val="3B2FD4"/>
          </a:solidFill>
          <a:ln/>
        </p:spPr>
      </p:sp>
      <p:pic>
        <p:nvPicPr>
          <p:cNvPr id="30" name="Image 8" descr="icons_arrow_r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8312" y="3108960"/>
            <a:ext cx="201168" cy="201168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7287768" y="2286000"/>
            <a:ext cx="1938528" cy="228600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550">
                <a:alpha val="15000"/>
              </a:srgbClr>
            </a:outerShdw>
          </a:effectLst>
        </p:spPr>
      </p:sp>
      <p:sp>
        <p:nvSpPr>
          <p:cNvPr id="32" name="Shape 21"/>
          <p:cNvSpPr/>
          <p:nvPr/>
        </p:nvSpPr>
        <p:spPr>
          <a:xfrm>
            <a:off x="8001000" y="2048256"/>
            <a:ext cx="512064" cy="512064"/>
          </a:xfrm>
          <a:prstGeom prst="ellipse">
            <a:avLst/>
          </a:prstGeom>
          <a:solidFill>
            <a:srgbClr val="FF6B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22"/>
          <p:cNvSpPr/>
          <p:nvPr/>
        </p:nvSpPr>
        <p:spPr>
          <a:xfrm>
            <a:off x="8001000" y="20482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Shape 23"/>
          <p:cNvSpPr/>
          <p:nvPr/>
        </p:nvSpPr>
        <p:spPr>
          <a:xfrm>
            <a:off x="7799832" y="2670048"/>
            <a:ext cx="914400" cy="914400"/>
          </a:xfrm>
          <a:prstGeom prst="ellipse">
            <a:avLst/>
          </a:prstGeom>
          <a:solidFill>
            <a:srgbClr val="3B2FD4"/>
          </a:solidFill>
          <a:ln/>
        </p:spPr>
      </p:sp>
      <p:pic>
        <p:nvPicPr>
          <p:cNvPr id="35" name="Image 9" descr="icons_clo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5572" y="2875788"/>
            <a:ext cx="502920" cy="50292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360920" y="3703320"/>
            <a:ext cx="17922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Подождать</a:t>
            </a:r>
            <a:endParaRPr lang="en-US" sz="1350" dirty="0"/>
          </a:p>
        </p:txBody>
      </p:sp>
      <p:pic>
        <p:nvPicPr>
          <p:cNvPr id="37" name="Image 10" descr="icons_arrow_righ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44584" y="3108960"/>
            <a:ext cx="219456" cy="219456"/>
          </a:xfrm>
          <a:prstGeom prst="rect">
            <a:avLst/>
          </a:prstGeom>
        </p:spPr>
      </p:pic>
      <p:sp>
        <p:nvSpPr>
          <p:cNvPr id="38" name="Shape 25"/>
          <p:cNvSpPr/>
          <p:nvPr/>
        </p:nvSpPr>
        <p:spPr>
          <a:xfrm>
            <a:off x="9208008" y="3063240"/>
            <a:ext cx="292608" cy="292608"/>
          </a:xfrm>
          <a:prstGeom prst="ellipse">
            <a:avLst/>
          </a:prstGeom>
          <a:solidFill>
            <a:srgbClr val="3B2FD4"/>
          </a:solidFill>
          <a:ln/>
        </p:spPr>
      </p:sp>
      <p:pic>
        <p:nvPicPr>
          <p:cNvPr id="39" name="Image 11" descr="icons_arrow_righ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44584" y="3108960"/>
            <a:ext cx="201168" cy="201168"/>
          </a:xfrm>
          <a:prstGeom prst="rect">
            <a:avLst/>
          </a:prstGeom>
        </p:spPr>
      </p:pic>
      <p:sp>
        <p:nvSpPr>
          <p:cNvPr id="40" name="Shape 26"/>
          <p:cNvSpPr/>
          <p:nvPr/>
        </p:nvSpPr>
        <p:spPr>
          <a:xfrm>
            <a:off x="9464040" y="2286000"/>
            <a:ext cx="1938528" cy="2286000"/>
          </a:xfrm>
          <a:prstGeom prst="roundRect">
            <a:avLst>
              <a:gd name="adj" fmla="val 7547"/>
            </a:avLst>
          </a:prstGeom>
          <a:solidFill>
            <a:srgbClr val="00D9C0"/>
          </a:solidFill>
          <a:ln/>
          <a:effectLst>
            <a:outerShdw sx="100000" sy="100000" kx="0" ky="0" algn="bl" rotWithShape="0" blurRad="101600" dist="38100" dir="5400000">
              <a:srgbClr val="1B1550">
                <a:alpha val="15000"/>
              </a:srgbClr>
            </a:outerShdw>
          </a:effectLst>
        </p:spPr>
      </p:sp>
      <p:sp>
        <p:nvSpPr>
          <p:cNvPr id="41" name="Shape 27"/>
          <p:cNvSpPr/>
          <p:nvPr/>
        </p:nvSpPr>
        <p:spPr>
          <a:xfrm>
            <a:off x="10177272" y="2048256"/>
            <a:ext cx="512064" cy="512064"/>
          </a:xfrm>
          <a:prstGeom prst="ellipse">
            <a:avLst/>
          </a:prstGeom>
          <a:solidFill>
            <a:srgbClr val="FF6B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28"/>
          <p:cNvSpPr/>
          <p:nvPr/>
        </p:nvSpPr>
        <p:spPr>
          <a:xfrm>
            <a:off x="10177272" y="20482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Shape 29"/>
          <p:cNvSpPr/>
          <p:nvPr/>
        </p:nvSpPr>
        <p:spPr>
          <a:xfrm>
            <a:off x="9976104" y="2670048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4" name="Image 12" descr="icons_chec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81844" y="2875788"/>
            <a:ext cx="502920" cy="502920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9537192" y="3703320"/>
            <a:ext cx="17922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Чай готов!</a:t>
            </a:r>
            <a:endParaRPr lang="en-US" sz="1350" dirty="0"/>
          </a:p>
        </p:txBody>
      </p:sp>
      <p:sp>
        <p:nvSpPr>
          <p:cNvPr id="46" name="Text 3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ВНИМАНИЕ!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41C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Почему важен порядок действий?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374904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31750">
            <a:solidFill>
              <a:srgbClr val="FF6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rgbClr val="FFE6DF"/>
          </a:solidFill>
          <a:ln/>
        </p:spPr>
      </p:sp>
      <p:pic>
        <p:nvPicPr>
          <p:cNvPr id="6" name="Image 0" descr="icons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311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48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Неправильный порядок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68680" y="2880360"/>
            <a:ext cx="502920" cy="502920"/>
          </a:xfrm>
          <a:prstGeom prst="ellipse">
            <a:avLst/>
          </a:prstGeom>
          <a:solidFill>
            <a:srgbClr val="FFE6DF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08760" y="286207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Налить воду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68680" y="3657600"/>
            <a:ext cx="502920" cy="502920"/>
          </a:xfrm>
          <a:prstGeom prst="ellipse">
            <a:avLst/>
          </a:prstGeom>
          <a:solidFill>
            <a:srgbClr val="FFE6DF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08760" y="363931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 чашку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68680" y="4434840"/>
            <a:ext cx="502920" cy="502920"/>
          </a:xfrm>
          <a:prstGeom prst="ellipse">
            <a:avLst/>
          </a:prstGeom>
          <a:solidFill>
            <a:srgbClr val="FFE6DF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508760" y="441655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Положить чай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309360" y="1828800"/>
            <a:ext cx="5303520" cy="3749040"/>
          </a:xfrm>
          <a:prstGeom prst="roundRect">
            <a:avLst>
              <a:gd name="adj" fmla="val 4390"/>
            </a:avLst>
          </a:prstGeom>
          <a:solidFill>
            <a:srgbClr val="3B2FD4"/>
          </a:solidFill>
          <a:ln/>
        </p:spPr>
      </p:sp>
      <p:sp>
        <p:nvSpPr>
          <p:cNvPr id="18" name="Shape 15"/>
          <p:cNvSpPr/>
          <p:nvPr/>
        </p:nvSpPr>
        <p:spPr>
          <a:xfrm>
            <a:off x="6629400" y="2148840"/>
            <a:ext cx="1188720" cy="1188720"/>
          </a:xfrm>
          <a:prstGeom prst="ellipse">
            <a:avLst/>
          </a:prstGeom>
          <a:solidFill>
            <a:srgbClr val="241C8C"/>
          </a:solidFill>
          <a:ln/>
        </p:spPr>
      </p:sp>
      <p:pic>
        <p:nvPicPr>
          <p:cNvPr id="19" name="Image 1" descr="icons_questi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2386584"/>
            <a:ext cx="713232" cy="7132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629400" y="35204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вы думаете?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629400" y="38862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здесь неправильно?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6629400" y="48920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поменять порядок команд — результат тоже изменится!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НОВОЕ ПОНЯТИЕ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41C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Кто выполняет алгоритм?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15238"/>
            </a:avLst>
          </a:prstGeom>
          <a:solidFill>
            <a:srgbClr val="EAE7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Исполнитель</a:t>
            </a:r>
            <a:pPr indent="0" marL="0">
              <a:buNone/>
            </a:pPr>
            <a:r>
              <a:rPr lang="en-US" sz="2000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это тот, кто выполняет команды алгоритма.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62940" y="2880360"/>
            <a:ext cx="2468880" cy="28346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55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03020" y="3246120"/>
            <a:ext cx="1188720" cy="1188720"/>
          </a:xfrm>
          <a:prstGeom prst="ellipse">
            <a:avLst/>
          </a:prstGeom>
          <a:solidFill>
            <a:srgbClr val="3B2FD4"/>
          </a:solidFill>
          <a:ln/>
        </p:spPr>
      </p:sp>
      <p:pic>
        <p:nvPicPr>
          <p:cNvPr id="8" name="Image 0" descr="icons_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0482" y="3513582"/>
            <a:ext cx="653796" cy="6537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4380" y="4709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3451860" y="2880360"/>
            <a:ext cx="2468880" cy="28346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55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091940" y="3246120"/>
            <a:ext cx="1188720" cy="118872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12" name="Image 1" descr="icons_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402" y="3513582"/>
            <a:ext cx="653796" cy="6537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3300" y="4709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6240780" y="2880360"/>
            <a:ext cx="2468880" cy="28346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55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80860" y="3246120"/>
            <a:ext cx="1188720" cy="11887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6" name="Image 2" descr="icons_desk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322" y="3513582"/>
            <a:ext cx="653796" cy="6537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32220" y="4709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9029700" y="2880360"/>
            <a:ext cx="2468880" cy="28346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55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669780" y="3246120"/>
            <a:ext cx="1188720" cy="1188720"/>
          </a:xfrm>
          <a:prstGeom prst="ellipse">
            <a:avLst/>
          </a:prstGeom>
          <a:solidFill>
            <a:srgbClr val="3B2FD4"/>
          </a:solidFill>
          <a:ln/>
        </p:spPr>
      </p:sp>
      <p:pic>
        <p:nvPicPr>
          <p:cNvPr id="20" name="Image 3" descr="icons_gamech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7242" y="3513582"/>
            <a:ext cx="653796" cy="6537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21140" y="4709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Игровой персонаж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2F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241C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Из чего состоит алгоритм?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состоит из отдельных команд. Вот команды для робота: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514600" cy="2651760"/>
          </a:xfrm>
          <a:prstGeom prst="roundRect">
            <a:avLst>
              <a:gd name="adj" fmla="val 5818"/>
            </a:avLst>
          </a:prstGeom>
          <a:solidFill>
            <a:srgbClr val="241C8C"/>
          </a:solidFill>
          <a:ln w="19050">
            <a:solidFill>
              <a:srgbClr val="00D9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94460" y="2697480"/>
            <a:ext cx="1005840" cy="100584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8" name="Image 0" descr="icons_arrow_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9489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8862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Идти вперёд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136392" y="3429000"/>
            <a:ext cx="310896" cy="310896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1" name="Image 1" descr="icons_arrow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828" y="3474720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29000" y="2377440"/>
            <a:ext cx="2514600" cy="2651760"/>
          </a:xfrm>
          <a:prstGeom prst="roundRect">
            <a:avLst>
              <a:gd name="adj" fmla="val 5818"/>
            </a:avLst>
          </a:prstGeom>
          <a:solidFill>
            <a:srgbClr val="241C8C"/>
          </a:solidFill>
          <a:ln w="19050">
            <a:solidFill>
              <a:srgbClr val="00D9C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183380" y="2697480"/>
            <a:ext cx="1005840" cy="100584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14" name="Image 2" descr="icons_arrow_le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9489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20440" y="38862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Повернуть налево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925312" y="3429000"/>
            <a:ext cx="310896" cy="310896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7" name="Image 3" descr="icons_arrow_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748" y="3474720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17920" y="2377440"/>
            <a:ext cx="2514600" cy="2651760"/>
          </a:xfrm>
          <a:prstGeom prst="roundRect">
            <a:avLst>
              <a:gd name="adj" fmla="val 5818"/>
            </a:avLst>
          </a:prstGeom>
          <a:solidFill>
            <a:srgbClr val="241C8C"/>
          </a:solidFill>
          <a:ln w="19050">
            <a:solidFill>
              <a:srgbClr val="00D9C0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972300" y="2697480"/>
            <a:ext cx="1005840" cy="100584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20" name="Image 4" descr="icons_arrow_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2948940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09360" y="38862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Повернуть направо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8714232" y="3429000"/>
            <a:ext cx="310896" cy="310896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3" name="Image 5" descr="icons_arrow_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3668" y="3474720"/>
            <a:ext cx="201168" cy="20116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006840" y="2377440"/>
            <a:ext cx="2514600" cy="2651760"/>
          </a:xfrm>
          <a:prstGeom prst="roundRect">
            <a:avLst>
              <a:gd name="adj" fmla="val 5818"/>
            </a:avLst>
          </a:prstGeom>
          <a:solidFill>
            <a:srgbClr val="241C8C"/>
          </a:solidFill>
          <a:ln w="19050">
            <a:solidFill>
              <a:srgbClr val="00D9C0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9761220" y="2697480"/>
            <a:ext cx="1005840" cy="100584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26" name="Image 6" descr="icons_sto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2680" y="2948940"/>
            <a:ext cx="502920" cy="50292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098280" y="38862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Остановиться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41C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Помоги роботу дойти до цели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868680" cy="868680"/>
          </a:xfrm>
          <a:prstGeom prst="rect">
            <a:avLst/>
          </a:prstGeom>
          <a:solidFill>
            <a:srgbClr val="EDEBFF"/>
          </a:solidFill>
          <a:ln w="12700">
            <a:solidFill>
              <a:srgbClr val="D9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192024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1920240"/>
            <a:ext cx="868680" cy="868680"/>
          </a:xfrm>
          <a:prstGeom prst="rect">
            <a:avLst/>
          </a:prstGeom>
          <a:solidFill>
            <a:srgbClr val="EDEBFF"/>
          </a:solidFill>
          <a:ln w="12700">
            <a:solidFill>
              <a:srgbClr val="D9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192024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0" y="1920240"/>
            <a:ext cx="868680" cy="868680"/>
          </a:xfrm>
          <a:prstGeom prst="rect">
            <a:avLst/>
          </a:prstGeom>
          <a:solidFill>
            <a:srgbClr val="EDEBFF"/>
          </a:solidFill>
          <a:ln w="12700">
            <a:solidFill>
              <a:srgbClr val="D9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66360" y="192024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78892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2788920"/>
            <a:ext cx="868680" cy="868680"/>
          </a:xfrm>
          <a:prstGeom prst="rect">
            <a:avLst/>
          </a:prstGeom>
          <a:solidFill>
            <a:srgbClr val="EDEBFF"/>
          </a:solidFill>
          <a:ln w="12700">
            <a:solidFill>
              <a:srgbClr val="D9D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78892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2788920"/>
            <a:ext cx="868680" cy="868680"/>
          </a:xfrm>
          <a:prstGeom prst="rect">
            <a:avLst/>
          </a:prstGeom>
          <a:solidFill>
            <a:srgbClr val="EDEBFF"/>
          </a:solidFill>
          <a:ln w="12700">
            <a:solidFill>
              <a:srgbClr val="D9D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78892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2788920"/>
            <a:ext cx="868680" cy="868680"/>
          </a:xfrm>
          <a:prstGeom prst="rect">
            <a:avLst/>
          </a:prstGeom>
          <a:solidFill>
            <a:srgbClr val="EDEBFF"/>
          </a:solidFill>
          <a:ln w="12700">
            <a:solidFill>
              <a:srgbClr val="D9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657600"/>
            <a:ext cx="868680" cy="868680"/>
          </a:xfrm>
          <a:prstGeom prst="rect">
            <a:avLst/>
          </a:prstGeom>
          <a:solidFill>
            <a:srgbClr val="EDEBFF"/>
          </a:solidFill>
          <a:ln w="12700">
            <a:solidFill>
              <a:srgbClr val="D9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91640" y="365760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3657600"/>
            <a:ext cx="868680" cy="868680"/>
          </a:xfrm>
          <a:prstGeom prst="rect">
            <a:avLst/>
          </a:prstGeom>
          <a:solidFill>
            <a:srgbClr val="EDEBFF"/>
          </a:solidFill>
          <a:ln w="12700">
            <a:solidFill>
              <a:srgbClr val="D9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365760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3657600"/>
            <a:ext cx="868680" cy="868680"/>
          </a:xfrm>
          <a:prstGeom prst="rect">
            <a:avLst/>
          </a:prstGeom>
          <a:solidFill>
            <a:srgbClr val="EDEBFF"/>
          </a:solidFill>
          <a:ln w="12700">
            <a:solidFill>
              <a:srgbClr val="D9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66360" y="365760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" y="28803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0" descr="icons_robot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3010662"/>
            <a:ext cx="425196" cy="425196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276088" y="28803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1" descr="icons_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393" y="3034665"/>
            <a:ext cx="377190" cy="37719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6492240" y="1920240"/>
            <a:ext cx="5212080" cy="2606040"/>
          </a:xfrm>
          <a:prstGeom prst="roundRect">
            <a:avLst>
              <a:gd name="adj" fmla="val 5614"/>
            </a:avLst>
          </a:prstGeom>
          <a:solidFill>
            <a:srgbClr val="3B2FD4"/>
          </a:solidFill>
          <a:ln/>
        </p:spPr>
      </p:sp>
      <p:sp>
        <p:nvSpPr>
          <p:cNvPr id="27" name="Text 23"/>
          <p:cNvSpPr/>
          <p:nvPr/>
        </p:nvSpPr>
        <p:spPr>
          <a:xfrm>
            <a:off x="676656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6766560" y="24688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команды нужно дать роботу, чтобы он дошёл до флажка?</a:t>
            </a:r>
            <a:endParaRPr lang="en-US" sz="1550" dirty="0"/>
          </a:p>
        </p:txBody>
      </p:sp>
      <p:sp>
        <p:nvSpPr>
          <p:cNvPr id="29" name="Text 25"/>
          <p:cNvSpPr/>
          <p:nvPr/>
        </p:nvSpPr>
        <p:spPr>
          <a:xfrm>
            <a:off x="6766560" y="4023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Используй команды: вперёд, налево, направо, стоп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41C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Найди правильный алгоритм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почистить зубы. Какой вариант верный?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5303520" cy="402336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9050">
            <a:solidFill>
              <a:srgbClr val="E3E0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3B2FD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30632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Почистить зубы щёткой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600200" y="3749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Взять зубную щётку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600200" y="4434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Выдавить пасту на щётку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600200" y="5120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Прополоскать рот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263640" y="2011680"/>
            <a:ext cx="5303520" cy="402336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9050">
            <a:solidFill>
              <a:srgbClr val="E3E0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2286000"/>
            <a:ext cx="548640" cy="548640"/>
          </a:xfrm>
          <a:prstGeom prst="ellipse">
            <a:avLst/>
          </a:prstGeom>
          <a:solidFill>
            <a:srgbClr val="3B2FD4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69480" y="30632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Взять зубную щётку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269480" y="3749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Выдавить пасту на щётку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269480" y="4434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Почистить зубы щёткой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269480" y="5120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Прополоскать рот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94360" y="6172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Подумай: какой порядок действий даст верный результат?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2F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241C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УРОКА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мы сегодня узнали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40080" cy="640080"/>
          </a:xfrm>
          <a:prstGeom prst="ellipse">
            <a:avLst/>
          </a:prstGeom>
          <a:solidFill>
            <a:srgbClr val="241C8C"/>
          </a:solidFill>
          <a:ln/>
        </p:spPr>
      </p:sp>
      <p:pic>
        <p:nvPicPr>
          <p:cNvPr id="6" name="Image 0" descr="icons_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1396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659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— это последовательность действий для достижения результата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640080" cy="640080"/>
          </a:xfrm>
          <a:prstGeom prst="ellipse">
            <a:avLst/>
          </a:prstGeom>
          <a:solidFill>
            <a:srgbClr val="241C8C"/>
          </a:solidFill>
          <a:ln/>
        </p:spPr>
      </p:sp>
      <p:pic>
        <p:nvPicPr>
          <p:cNvPr id="9" name="Image 1" descr="icons_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09981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9260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Команды алгоритма выполняются строго по порядку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48640" y="3931920"/>
            <a:ext cx="640080" cy="640080"/>
          </a:xfrm>
          <a:prstGeom prst="ellipse">
            <a:avLst/>
          </a:prstGeom>
          <a:solidFill>
            <a:srgbClr val="241C8C"/>
          </a:solidFill>
          <a:ln/>
        </p:spPr>
      </p:sp>
      <p:pic>
        <p:nvPicPr>
          <p:cNvPr id="12" name="Image 2" descr="icons_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05993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88620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алгоритма есть исполнитель — человек, робот или компьютер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548640" y="4892040"/>
            <a:ext cx="640080" cy="640080"/>
          </a:xfrm>
          <a:prstGeom prst="ellipse">
            <a:avLst/>
          </a:prstGeom>
          <a:solidFill>
            <a:srgbClr val="241C8C"/>
          </a:solidFill>
          <a:ln/>
        </p:spPr>
      </p:sp>
      <p:pic>
        <p:nvPicPr>
          <p:cNvPr id="15" name="Image 3" descr="icons_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5020056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8463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Алгоритмы встречаются и в обычной жизни, и в программировании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41C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Вопросы для самопроверки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55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685800" cy="685800"/>
          </a:xfrm>
          <a:prstGeom prst="ellipse">
            <a:avLst/>
          </a:prstGeom>
          <a:solidFill>
            <a:srgbClr val="3B2FD4"/>
          </a:solidFill>
          <a:ln/>
        </p:spPr>
      </p:sp>
      <p:pic>
        <p:nvPicPr>
          <p:cNvPr id="6" name="Image 0" descr="icons_ques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265" y="230314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031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алгоритм?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080760" y="1874520"/>
            <a:ext cx="5257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55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55080" y="2148840"/>
            <a:ext cx="685800" cy="68580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10" name="Image 1" descr="icons_questi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385" y="2303145"/>
            <a:ext cx="377190" cy="3771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21031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порядок команд важен?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3977640"/>
            <a:ext cx="5257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550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22960" y="4251960"/>
            <a:ext cx="685800" cy="6858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4" name="Image 2" descr="icons_questio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5" y="4406265"/>
            <a:ext cx="377190" cy="3771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2062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может быть исполнителем алгоритма?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080760" y="3977640"/>
            <a:ext cx="5257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550">
                <a:alpha val="1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355080" y="4251960"/>
            <a:ext cx="685800" cy="685800"/>
          </a:xfrm>
          <a:prstGeom prst="ellipse">
            <a:avLst/>
          </a:prstGeom>
          <a:solidFill>
            <a:srgbClr val="3B2FD4"/>
          </a:solidFill>
          <a:ln/>
        </p:spPr>
      </p:sp>
      <p:pic>
        <p:nvPicPr>
          <p:cNvPr id="18" name="Image 3" descr="icons_questio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385" y="4406265"/>
            <a:ext cx="377190" cy="37719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23760" y="42062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4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Приведи пример алгоритма из своей жизни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2026-09-16T09:49:15Z</dcterms:created>
  <dcterms:modified xsi:type="dcterms:W3CDTF">2026-09-16T09:49:15Z</dcterms:modified>
</cp:coreProperties>
</file>