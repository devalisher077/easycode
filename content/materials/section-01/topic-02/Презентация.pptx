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Rubik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a9c2fa47-7757-49c1-85ff-048c82ef8f29.fntdata" /><ns0:Relationship Id="rIdFont20" Type="http://schemas.openxmlformats.org/officeDocument/2006/relationships/font" Target="fonts/3af78fed-d07e-4d66-9edf-4a007e22c18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433387"/>
            <a:ext cx="3043237" cy="314325"/>
          </a:xfrm>
          <a:prstGeom prst="roundRect">
            <a:avLst>
              <a:gd name="adj" fmla="val 36363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315700" y="4191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72525" y="4252912"/>
            <a:ext cx="2886075" cy="409575"/>
          </a:xfrm>
          <a:prstGeom prst="roundRect">
            <a:avLst>
              <a:gd name="adj" fmla="val 372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4363342"/>
            <a:ext cx="1285875" cy="476250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71675" y="4363342"/>
            <a:ext cx="1609725" cy="476250"/>
          </a:xfrm>
          <a:prstGeom prst="roundRect">
            <a:avLst>
              <a:gd name="adj" fmla="val 28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33800" y="4363342"/>
            <a:ext cx="1095375" cy="476250"/>
          </a:xfrm>
          <a:prstGeom prst="roundRect">
            <a:avLst>
              <a:gd name="adj" fmla="val 28000"/>
            </a:avLst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8812" y="2728912"/>
            <a:ext cx="1333500" cy="1333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937" y="3052762"/>
            <a:ext cx="857250" cy="685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4515742"/>
            <a:ext cx="1333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2175" y="4515742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4300" y="4515742"/>
            <a:ext cx="1714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509587"/>
            <a:ext cx="2833687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Rubik"/>
              </a:rPr>
              <a:t>EASYCODE AI · ОСНОВЫ АЛГОРИТМОВ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72825" y="4191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Rubik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2551807"/>
            <a:ext cx="8271033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1E2F"/>
                </a:solidFill>
                <a:latin typeface="Rubik"/>
              </a:rPr>
              <a:t>Команды и последовательность действий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3801367"/>
            <a:ext cx="972740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Rubik"/>
              </a:rPr>
              <a:t>Учимся правильно давать команды исполнителю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1125" y="4367212"/>
            <a:ext cx="25241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F46E5"/>
                </a:solidFill>
                <a:latin typeface="Rubik"/>
              </a:rPr>
              <a:t>Привет! Я твой исполнитель 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550" y="4496692"/>
            <a:ext cx="752475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Rubik"/>
              </a:rPr>
              <a:t>Вперёд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7925" y="4496692"/>
            <a:ext cx="1038225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Rubik"/>
              </a:rPr>
              <a:t>Повернуть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10050" y="4496692"/>
            <a:ext cx="523875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Rubik"/>
              </a:rPr>
              <a:t>Стоп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433387"/>
            <a:ext cx="2000250" cy="314325"/>
          </a:xfrm>
          <a:prstGeom prst="roundRect">
            <a:avLst>
              <a:gd name="adj" fmla="val 36363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315700" y="4191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2472630"/>
            <a:ext cx="3581400" cy="933450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05300" y="2472630"/>
            <a:ext cx="3581400" cy="933450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2472630"/>
            <a:ext cx="3581400" cy="933450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3400" y="4869060"/>
            <a:ext cx="3581400" cy="933450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05300" y="4869060"/>
            <a:ext cx="3581400" cy="933450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77200" y="4935735"/>
            <a:ext cx="3581400" cy="800100"/>
          </a:xfrm>
          <a:prstGeom prst="roundRect">
            <a:avLst>
              <a:gd name="adj" fmla="val 23809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710755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425" y="2710755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5325" y="2710755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5107185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425" y="5107185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" y="2834580"/>
            <a:ext cx="20955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8675" y="2834580"/>
            <a:ext cx="26670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9150" y="2834580"/>
            <a:ext cx="20955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1062" y="5231010"/>
            <a:ext cx="238125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7250" y="5231010"/>
            <a:ext cx="20955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7700" y="5197673"/>
            <a:ext cx="304800" cy="266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5800" y="509587"/>
            <a:ext cx="17907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Rubik"/>
              </a:rPr>
              <a:t>EASYCODE AI · УРОК 1.2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2825" y="4191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Rubik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952500"/>
            <a:ext cx="116586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1E1E2F"/>
                </a:solidFill>
                <a:latin typeface="Rubik"/>
              </a:rPr>
              <a:t>Цель урока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1398240"/>
            <a:ext cx="116586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Rubik"/>
              </a:rPr>
              <a:t>Чему мы научимся сегодня на занятии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1125" y="2729805"/>
            <a:ext cx="25908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E2F"/>
                </a:solidFill>
                <a:latin typeface="Rubik"/>
              </a:rPr>
              <a:t>Объяснять, что такое команда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3025" y="2729805"/>
            <a:ext cx="25908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E2F"/>
                </a:solidFill>
                <a:latin typeface="Rubik"/>
              </a:rPr>
              <a:t>Понимать, кто такой исполнитель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925" y="2834580"/>
            <a:ext cx="308371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E2F"/>
                </a:solidFill>
                <a:latin typeface="Rubik"/>
              </a:rPr>
              <a:t>Составлять цепочку команд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1125" y="5126235"/>
            <a:ext cx="25908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E2F"/>
                </a:solidFill>
                <a:latin typeface="Rubik"/>
              </a:rPr>
              <a:t>Определять верный порядок действий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53025" y="5126235"/>
            <a:ext cx="25908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E2F"/>
                </a:solidFill>
                <a:latin typeface="Rubik"/>
              </a:rPr>
              <a:t>Находить ошибки в последовательности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4900" y="5126235"/>
            <a:ext cx="28384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Rubik"/>
              </a:rPr>
              <a:t>Готовимся к созданию программ!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433387"/>
            <a:ext cx="2152650" cy="314325"/>
          </a:xfrm>
          <a:prstGeom prst="roundRect">
            <a:avLst>
              <a:gd name="adj" fmla="val 36363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315700" y="4191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10600" y="3094583"/>
            <a:ext cx="3048000" cy="2085975"/>
          </a:xfrm>
          <a:prstGeom prst="roundRect">
            <a:avLst>
              <a:gd name="adj" fmla="val 9132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14550" y="3051720"/>
            <a:ext cx="6191250" cy="647700"/>
          </a:xfrm>
          <a:prstGeom prst="roundRect">
            <a:avLst>
              <a:gd name="adj" fmla="val 29411"/>
            </a:avLst>
          </a:prstGeom>
          <a:solidFill>
            <a:srgbClr val="FEF2F2"/>
          </a:solidFill>
          <a:ln w="19050">
            <a:solidFill>
              <a:srgbClr val="FF5A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14550" y="3813720"/>
            <a:ext cx="6191250" cy="647700"/>
          </a:xfrm>
          <a:prstGeom prst="roundRect">
            <a:avLst>
              <a:gd name="adj" fmla="val 29411"/>
            </a:avLst>
          </a:prstGeom>
          <a:solidFill>
            <a:srgbClr val="FEF2F2"/>
          </a:solidFill>
          <a:ln w="19050">
            <a:solidFill>
              <a:srgbClr val="FF5A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14550" y="4575720"/>
            <a:ext cx="6191250" cy="647700"/>
          </a:xfrm>
          <a:prstGeom prst="roundRect">
            <a:avLst>
              <a:gd name="adj" fmla="val 29411"/>
            </a:avLst>
          </a:prstGeom>
          <a:solidFill>
            <a:srgbClr val="FEF2F2"/>
          </a:solidFill>
          <a:ln w="19050">
            <a:solidFill>
              <a:srgbClr val="FF5A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3442245"/>
            <a:ext cx="1047750" cy="1047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99420"/>
            <a:ext cx="666750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0" y="3380333"/>
            <a:ext cx="3810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09587"/>
            <a:ext cx="19431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Rubik"/>
              </a:rPr>
              <a:t>НАБЛЮДЕНИЕ · ЗАГАДКА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2825" y="4191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Rubi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952500"/>
            <a:ext cx="116586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1E1E2F"/>
                </a:solidFill>
                <a:latin typeface="Rubik"/>
              </a:rPr>
              <a:t>Представь ситуацию...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1398240"/>
            <a:ext cx="116586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Rubik"/>
              </a:rPr>
              <a:t>Перед тобой стоит робот. Ты говоришь ему: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4604295"/>
            <a:ext cx="15954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Rubik"/>
              </a:rPr>
              <a:t>🤖 Растерян!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5050" y="3242220"/>
            <a:ext cx="5905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Rubik"/>
              </a:rPr>
              <a:t>🗣️ «— Иди туда!»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5050" y="4004220"/>
            <a:ext cx="5905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Rubik"/>
              </a:rPr>
              <a:t>🗣️ «— Сделай что-нибудь!»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5050" y="4766220"/>
            <a:ext cx="5905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Rubik"/>
              </a:rPr>
              <a:t>🗣️ «— Потом поверни!»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4393" y="3923258"/>
            <a:ext cx="330041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FFFFF"/>
                </a:solidFill>
                <a:latin typeface="Rubik"/>
              </a:rPr>
              <a:t>Что не так с этими указаниями?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2975" y="4551908"/>
            <a:ext cx="3143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FFFFF"/>
                </a:solidFill>
                <a:latin typeface="Rubik"/>
              </a:rPr>
              <a:t>Сможет ли робот выполнить хоть одно действие?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952500"/>
            <a:ext cx="11125200" cy="1104900"/>
          </a:xfrm>
          <a:prstGeom prst="roundRect">
            <a:avLst>
              <a:gd name="adj" fmla="val 17241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5991225"/>
            <a:ext cx="11125200" cy="447675"/>
          </a:xfrm>
          <a:prstGeom prst="roundRect">
            <a:avLst>
              <a:gd name="adj" fmla="val 29787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433387"/>
            <a:ext cx="2557462" cy="314325"/>
          </a:xfrm>
          <a:prstGeom prst="roundRect">
            <a:avLst>
              <a:gd name="adj" fmla="val 36363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315700" y="4191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3009900"/>
            <a:ext cx="5448300" cy="2105025"/>
          </a:xfrm>
          <a:prstGeom prst="roundRect">
            <a:avLst>
              <a:gd name="adj" fmla="val 9049"/>
            </a:avLst>
          </a:prstGeom>
          <a:solidFill>
            <a:srgbClr val="ECFDF5"/>
          </a:solidFill>
          <a:ln w="19050">
            <a:solidFill>
              <a:srgbClr val="00D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0300" y="3009900"/>
            <a:ext cx="5448300" cy="2105025"/>
          </a:xfrm>
          <a:prstGeom prst="roundRect">
            <a:avLst>
              <a:gd name="adj" fmla="val 9049"/>
            </a:avLst>
          </a:prstGeom>
          <a:solidFill>
            <a:srgbClr val="FEF2F2"/>
          </a:solidFill>
          <a:ln w="19050">
            <a:solidFill>
              <a:srgbClr val="FF5A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2950" y="3638550"/>
            <a:ext cx="5029200" cy="371475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4086225"/>
            <a:ext cx="5029200" cy="371475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4533900"/>
            <a:ext cx="5029200" cy="371475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19850" y="3638550"/>
            <a:ext cx="5029200" cy="371475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19850" y="4086225"/>
            <a:ext cx="5029200" cy="371475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19850" y="4533900"/>
            <a:ext cx="5029200" cy="371475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352550"/>
            <a:ext cx="3048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219450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50" y="3219450"/>
            <a:ext cx="266700" cy="266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-361950" y="6124575"/>
            <a:ext cx="129159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F46E5"/>
                </a:solidFill>
                <a:latin typeface="Rubik"/>
              </a:rPr>
              <a:t>💡 Главное правило: команда должна быть абсолютно точной и понятной!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9587"/>
            <a:ext cx="234791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Rubik"/>
              </a:rPr>
              <a:t>ГЛАВНОЕ ПОНЯТИЕ · КОМАНДА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72825" y="4191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Rubik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7300" y="1219200"/>
            <a:ext cx="109347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Rubik"/>
              </a:rPr>
              <a:t>Что такое команда?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7300" y="1524000"/>
            <a:ext cx="1084659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500" i="0" u="none">
                <a:solidFill>
                  <a:srgbClr val="FFFFFF"/>
                </a:solidFill>
                <a:latin typeface="Rubik"/>
              </a:rPr>
              <a:t>Команда</a:t>
            </a:r>
            <a:r>
              <a:rPr b="0" sz="1500" i="0" u="none">
                <a:solidFill>
                  <a:srgbClr val="FFFFFF"/>
                </a:solidFill>
                <a:latin typeface="Rubik"/>
              </a:rPr>
              <a:t> — это понятное и точное указание исполнителю выполнить определённое действие.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950" y="3238500"/>
            <a:ext cx="286285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65F46"/>
                </a:solidFill>
                <a:latin typeface="Rubik"/>
              </a:rPr>
              <a:t>Понятные команды 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" y="3733800"/>
            <a:ext cx="48196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«Шаг вперёд»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4181475"/>
            <a:ext cx="48196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«Поверни направо»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350" y="4629150"/>
            <a:ext cx="48196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«Остановись»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0850" y="3238500"/>
            <a:ext cx="31753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Rubik"/>
              </a:rPr>
              <a:t>Непонятные команды 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2250" y="3733800"/>
            <a:ext cx="48196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«Иди куда-нибудь»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0" y="4181475"/>
            <a:ext cx="48196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«Сделай нормально»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0" y="4629150"/>
            <a:ext cx="48196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«Поверни чуть-чуть»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953125"/>
            <a:ext cx="11125200" cy="485775"/>
          </a:xfrm>
          <a:prstGeom prst="roundRect">
            <a:avLst>
              <a:gd name="adj" fmla="val 3137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33387"/>
            <a:ext cx="2747962" cy="314325"/>
          </a:xfrm>
          <a:prstGeom prst="roundRect">
            <a:avLst>
              <a:gd name="adj" fmla="val 36363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315700" y="4191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3400" y="2875508"/>
            <a:ext cx="2638425" cy="2038350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62325" y="2875508"/>
            <a:ext cx="2638425" cy="2038350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2875508"/>
            <a:ext cx="2638425" cy="2038350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20175" y="2875508"/>
            <a:ext cx="2638425" cy="2038350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712" y="3113633"/>
            <a:ext cx="685800" cy="685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637" y="3113633"/>
            <a:ext cx="685800" cy="685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7562" y="3113633"/>
            <a:ext cx="685800" cy="685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6487" y="3113633"/>
            <a:ext cx="685800" cy="685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9262" y="3304133"/>
            <a:ext cx="2667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1037" y="3304133"/>
            <a:ext cx="3810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9962" y="3304133"/>
            <a:ext cx="3810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8887" y="3304133"/>
            <a:ext cx="3810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-314325" y="6105525"/>
            <a:ext cx="128206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34155"/>
                </a:solidFill>
                <a:latin typeface="Rubik"/>
              </a:rPr>
              <a:t>⚠️ Разные исполнители понимают разные команды! Человек поймёт «улыбнись», а робот — нет.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9587"/>
            <a:ext cx="253841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Rubik"/>
              </a:rPr>
              <a:t>НОВОЕ ПОНЯТИЕ · ИСПОЛНИТЕЛЬ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72825" y="4191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Rubik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952500"/>
            <a:ext cx="116586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1E1E2F"/>
                </a:solidFill>
                <a:latin typeface="Rubik"/>
              </a:rPr>
              <a:t>Кто выполняет команды?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1398240"/>
            <a:ext cx="116586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Rubik"/>
              </a:rPr>
              <a:t>Исполнитель</a:t>
            </a:r>
            <a:r>
              <a:rPr b="0" sz="1350" i="0" u="none">
                <a:solidFill>
                  <a:srgbClr val="64748B"/>
                </a:solidFill>
                <a:latin typeface="Rubik"/>
              </a:rPr>
              <a:t> — это тот, кто умеет выполнять команды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7539" y="3951833"/>
            <a:ext cx="117014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1E2F"/>
                </a:solidFill>
                <a:latin typeface="Rubik"/>
              </a:rPr>
              <a:t>Человек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253" y="4332833"/>
            <a:ext cx="270271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Rubik"/>
              </a:rPr>
              <a:t>Понимает словесные просьбы и правила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6480" y="3951833"/>
            <a:ext cx="91011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1E2F"/>
                </a:solidFill>
                <a:latin typeface="Rubik"/>
              </a:rPr>
              <a:t>Робот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0178" y="4332833"/>
            <a:ext cx="270271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Rubik"/>
              </a:rPr>
              <a:t>Выполняет движения по датчикам и коду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0371" y="3951833"/>
            <a:ext cx="146018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1E2F"/>
                </a:solidFill>
                <a:latin typeface="Rubik"/>
              </a:rPr>
              <a:t>Компьютер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9103" y="4332833"/>
            <a:ext cx="270271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Rubik"/>
              </a:rPr>
              <a:t>Обрабатывает программы и вычисления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4301" y="3951833"/>
            <a:ext cx="13701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1E2F"/>
                </a:solidFill>
                <a:latin typeface="Rubik"/>
              </a:rPr>
              <a:t>Персонаж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88028" y="4332833"/>
            <a:ext cx="270271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Rubik"/>
              </a:rPr>
              <a:t>Слушается нажатий джойстика или кнопок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953125"/>
            <a:ext cx="11125200" cy="485775"/>
          </a:xfrm>
          <a:prstGeom prst="roundRect">
            <a:avLst>
              <a:gd name="adj" fmla="val 23529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5953125"/>
            <a:ext cx="57150" cy="48577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433387"/>
            <a:ext cx="2819400" cy="314325"/>
          </a:xfrm>
          <a:prstGeom prst="roundRect">
            <a:avLst>
              <a:gd name="adj" fmla="val 36363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315700" y="4191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9125" y="2885033"/>
            <a:ext cx="1657350" cy="571500"/>
          </a:xfrm>
          <a:prstGeom prst="roundRect">
            <a:avLst>
              <a:gd name="adj" fmla="val 23333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38875" y="2885033"/>
            <a:ext cx="1524000" cy="571500"/>
          </a:xfrm>
          <a:prstGeom prst="roundRect">
            <a:avLst>
              <a:gd name="adj" fmla="val 23333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81337" y="3608933"/>
            <a:ext cx="2876550" cy="571500"/>
          </a:xfrm>
          <a:prstGeom prst="roundRect">
            <a:avLst>
              <a:gd name="adj" fmla="val 23333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10287" y="3608933"/>
            <a:ext cx="3000375" cy="571500"/>
          </a:xfrm>
          <a:prstGeom prst="roundRect">
            <a:avLst>
              <a:gd name="adj" fmla="val 23333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72025" y="4332833"/>
            <a:ext cx="2647950" cy="571500"/>
          </a:xfrm>
          <a:prstGeom prst="roundRect">
            <a:avLst>
              <a:gd name="adj" fmla="val 23333"/>
            </a:avLst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825" y="3075533"/>
            <a:ext cx="1428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3075533"/>
            <a:ext cx="1428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037" y="3799433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6987" y="3799433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4925" y="4523333"/>
            <a:ext cx="19050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3900" y="6105525"/>
            <a:ext cx="108394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12E81"/>
                </a:solidFill>
                <a:latin typeface="Rubik"/>
              </a:rPr>
              <a:t>🧩 Эти цветные блоки — точь-в-точь как будущие блоки в Scratch и блочном программировании!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9587"/>
            <a:ext cx="26098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Rubik"/>
              </a:rPr>
              <a:t>СИСТЕМА КОМАНД · ЯЗЫК РОБОТА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2825" y="4191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Rubik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952500"/>
            <a:ext cx="116586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1E1E2F"/>
                </a:solidFill>
                <a:latin typeface="Rubik"/>
              </a:rPr>
              <a:t>Какие команды понимает робот?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1398240"/>
            <a:ext cx="116586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Rubik"/>
              </a:rPr>
              <a:t>Набор всех команд, которые умеет выполнять исполнитель — это </a:t>
            </a:r>
            <a:r>
              <a:rPr b="1" sz="1350" i="0" u="none">
                <a:solidFill>
                  <a:srgbClr val="64748B"/>
                </a:solidFill>
                <a:latin typeface="Rubik"/>
              </a:rPr>
              <a:t>система команд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3000" y="3056483"/>
            <a:ext cx="96202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Rubik"/>
              </a:rPr>
              <a:t>↑ Вперёд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2750" y="3056483"/>
            <a:ext cx="8286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Rubik"/>
              </a:rPr>
              <a:t>↓ Назад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2837" y="3780383"/>
            <a:ext cx="2133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Rubik"/>
              </a:rPr>
              <a:t>↶ Повернуть налево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1787" y="3780383"/>
            <a:ext cx="225742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Rubik"/>
              </a:rPr>
              <a:t>↷ Повернуть направо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9725" y="4504283"/>
            <a:ext cx="1752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Rubik"/>
              </a:rPr>
              <a:t>⏹️ Остановиться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915025"/>
            <a:ext cx="11125200" cy="523875"/>
          </a:xfrm>
          <a:prstGeom prst="roundRect">
            <a:avLst>
              <a:gd name="adj" fmla="val 36363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33387"/>
            <a:ext cx="2895600" cy="314325"/>
          </a:xfrm>
          <a:prstGeom prst="roundRect">
            <a:avLst>
              <a:gd name="adj" fmla="val 36363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315700" y="4191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3400" y="3323183"/>
            <a:ext cx="2459831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1856" y="3323183"/>
            <a:ext cx="2459831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10312" y="3323183"/>
            <a:ext cx="2459831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98768" y="3323183"/>
            <a:ext cx="2459831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72815" y="3523208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61271" y="3523208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49728" y="3523208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38184" y="3523208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0D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531" y="3761333"/>
            <a:ext cx="20002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87" y="3761333"/>
            <a:ext cx="20002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443" y="3761333"/>
            <a:ext cx="200025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295275" y="6086475"/>
            <a:ext cx="127825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FFFFF"/>
                </a:solidFill>
                <a:latin typeface="Rubik"/>
              </a:rPr>
              <a:t>Каждая команда выполняется </a:t>
            </a:r>
            <a:r>
              <a:rPr b="1" sz="1200" i="0" u="none">
                <a:solidFill>
                  <a:srgbClr val="FFFFFF"/>
                </a:solidFill>
                <a:latin typeface="Rubik"/>
              </a:rPr>
              <a:t>одна за другой</a:t>
            </a:r>
            <a:r>
              <a:rPr b="0" sz="1200" i="0" u="none">
                <a:solidFill>
                  <a:srgbClr val="FFFFFF"/>
                </a:solidFill>
                <a:latin typeface="Rubik"/>
              </a:rPr>
              <a:t>. Нельзя открыть дверь, не подойдя к ней!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9587"/>
            <a:ext cx="26860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Rubik"/>
              </a:rPr>
              <a:t>ПОСЛЕДОВАТЕЛЬНОСТЬ · ПОРЯДОК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2825" y="4191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Rubik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952500"/>
            <a:ext cx="116586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1E1E2F"/>
                </a:solidFill>
                <a:latin typeface="Rubik"/>
              </a:rPr>
              <a:t>Команды выполняются по порядку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1398240"/>
            <a:ext cx="116586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Rubik"/>
              </a:rPr>
              <a:t>Последовательность</a:t>
            </a:r>
            <a:r>
              <a:rPr b="0" sz="1350" i="0" u="none">
                <a:solidFill>
                  <a:srgbClr val="64748B"/>
                </a:solidFill>
                <a:latin typeface="Rubik"/>
              </a:rPr>
              <a:t> — это строго определённый порядок выполнения команд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9940" y="3523208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Rubik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584" y="4018508"/>
            <a:ext cx="27034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1E2F"/>
                </a:solidFill>
                <a:latin typeface="Rubik"/>
              </a:rPr>
              <a:t>Встать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8396" y="3523208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Rubik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00040" y="4018508"/>
            <a:ext cx="27034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1E2F"/>
                </a:solidFill>
                <a:latin typeface="Rubik"/>
              </a:rPr>
              <a:t>Подойти к двери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6853" y="3523208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Rubik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8496" y="4018508"/>
            <a:ext cx="27034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1E2F"/>
                </a:solidFill>
                <a:latin typeface="Rubik"/>
              </a:rPr>
              <a:t>Открыть дверь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95309" y="3523208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Rubik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6952" y="4018508"/>
            <a:ext cx="27034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1E2F"/>
                </a:solidFill>
                <a:latin typeface="Rubik"/>
              </a:rPr>
              <a:t>Выйти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953125"/>
            <a:ext cx="11125200" cy="485775"/>
          </a:xfrm>
          <a:prstGeom prst="roundRect">
            <a:avLst>
              <a:gd name="adj" fmla="val 2745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33387"/>
            <a:ext cx="2176462" cy="314325"/>
          </a:xfrm>
          <a:prstGeom prst="roundRect">
            <a:avLst>
              <a:gd name="adj" fmla="val 36363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315700" y="4191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3400" y="2599283"/>
            <a:ext cx="5448300" cy="2590800"/>
          </a:xfrm>
          <a:prstGeom prst="roundRect">
            <a:avLst>
              <a:gd name="adj" fmla="val 7352"/>
            </a:avLst>
          </a:prstGeom>
          <a:solidFill>
            <a:srgbClr val="ECFDF5"/>
          </a:solidFill>
          <a:ln w="19050">
            <a:solidFill>
              <a:srgbClr val="00D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2599283"/>
            <a:ext cx="5448300" cy="2590800"/>
          </a:xfrm>
          <a:prstGeom prst="roundRect">
            <a:avLst>
              <a:gd name="adj" fmla="val 7352"/>
            </a:avLst>
          </a:prstGeom>
          <a:solidFill>
            <a:srgbClr val="FEF2F2"/>
          </a:solidFill>
          <a:ln w="19050">
            <a:solidFill>
              <a:srgbClr val="FF5A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2950" y="3151733"/>
            <a:ext cx="5029200" cy="409575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2950" y="3675608"/>
            <a:ext cx="5029200" cy="409575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4199483"/>
            <a:ext cx="5029200" cy="409575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19850" y="3151733"/>
            <a:ext cx="5029200" cy="409575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19850" y="3675608"/>
            <a:ext cx="5029200" cy="409575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19850" y="4199483"/>
            <a:ext cx="5029200" cy="409575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827883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50" y="2827883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-361950" y="6086475"/>
            <a:ext cx="129159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92400E"/>
                </a:solidFill>
                <a:latin typeface="Rubik"/>
              </a:rPr>
              <a:t>⚠️ Изменишь порядок команд — изменится и весь результат!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9587"/>
            <a:ext cx="196691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Rubik"/>
              </a:rPr>
              <a:t>ВНИМАНИЕ! · СРАВНЕНИЕ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2825" y="4191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Rubik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952500"/>
            <a:ext cx="116586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1E1E2F"/>
                </a:solidFill>
                <a:latin typeface="Rubik"/>
              </a:rPr>
              <a:t>Почему порядок важен?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1398240"/>
            <a:ext cx="116586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Rubik"/>
              </a:rPr>
              <a:t>Посмотри, что произойдёт, если поменять команды местами: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" y="2808833"/>
            <a:ext cx="60198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65F46"/>
                </a:solidFill>
                <a:latin typeface="Rubik"/>
              </a:rPr>
              <a:t>Правильно 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3266033"/>
            <a:ext cx="48958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1. Надеть обувь 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" y="3789908"/>
            <a:ext cx="48958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2. Открыть дверь 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" y="4313783"/>
            <a:ext cx="48958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3. Выйти на улицу 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4799558"/>
            <a:ext cx="6286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47857"/>
                </a:solidFill>
                <a:latin typeface="Rubik"/>
              </a:rPr>
              <a:t>Результат: Успешно вышли на прогулку!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6550" y="2808833"/>
            <a:ext cx="55054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Rubik"/>
              </a:rPr>
              <a:t>Неправильно 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4150" y="3266033"/>
            <a:ext cx="48958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1. Выйти на улицу 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4150" y="3789908"/>
            <a:ext cx="48958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2. Надеть обувь 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4150" y="4313783"/>
            <a:ext cx="48958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3. Открыть дверь 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850" y="4799558"/>
            <a:ext cx="57721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91C1C"/>
                </a:solidFill>
                <a:latin typeface="Rubik"/>
              </a:rPr>
              <a:t>Ошибка: Вышли босиком в закрытую дверь!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433387"/>
            <a:ext cx="2714625" cy="314325"/>
          </a:xfrm>
          <a:prstGeom prst="roundRect">
            <a:avLst>
              <a:gd name="adj" fmla="val 36363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315700" y="4191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2994570"/>
            <a:ext cx="3048000" cy="2286000"/>
          </a:xfrm>
          <a:prstGeom prst="roundRect">
            <a:avLst>
              <a:gd name="adj" fmla="val 8333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82100" y="3318420"/>
            <a:ext cx="2476500" cy="1638300"/>
          </a:xfrm>
          <a:prstGeom prst="roundRect">
            <a:avLst>
              <a:gd name="adj" fmla="val 11627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7700" y="3108870"/>
            <a:ext cx="647700" cy="634900"/>
          </a:xfrm>
          <a:prstGeom prst="roundRect">
            <a:avLst>
              <a:gd name="adj" fmla="val 150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3108870"/>
            <a:ext cx="647700" cy="634900"/>
          </a:xfrm>
          <a:prstGeom prst="roundRect">
            <a:avLst>
              <a:gd name="adj" fmla="val 150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95500" y="3108870"/>
            <a:ext cx="647700" cy="634900"/>
          </a:xfrm>
          <a:prstGeom prst="roundRect">
            <a:avLst>
              <a:gd name="adj" fmla="val 15002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19400" y="3108870"/>
            <a:ext cx="647700" cy="634900"/>
          </a:xfrm>
          <a:prstGeom prst="roundRect">
            <a:avLst>
              <a:gd name="adj" fmla="val 150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700" y="3819971"/>
            <a:ext cx="647700" cy="635049"/>
          </a:xfrm>
          <a:prstGeom prst="roundRect">
            <a:avLst>
              <a:gd name="adj" fmla="val 149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3819971"/>
            <a:ext cx="647700" cy="635049"/>
          </a:xfrm>
          <a:prstGeom prst="roundRect">
            <a:avLst>
              <a:gd name="adj" fmla="val 149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95500" y="3819971"/>
            <a:ext cx="647700" cy="635049"/>
          </a:xfrm>
          <a:prstGeom prst="roundRect">
            <a:avLst>
              <a:gd name="adj" fmla="val 149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19400" y="3819971"/>
            <a:ext cx="647700" cy="635049"/>
          </a:xfrm>
          <a:prstGeom prst="roundRect">
            <a:avLst>
              <a:gd name="adj" fmla="val 149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7700" y="4531221"/>
            <a:ext cx="647700" cy="634900"/>
          </a:xfrm>
          <a:prstGeom prst="roundRect">
            <a:avLst>
              <a:gd name="adj" fmla="val 15002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4531221"/>
            <a:ext cx="647700" cy="634900"/>
          </a:xfrm>
          <a:prstGeom prst="roundRect">
            <a:avLst>
              <a:gd name="adj" fmla="val 150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095500" y="4531221"/>
            <a:ext cx="647700" cy="634900"/>
          </a:xfrm>
          <a:prstGeom prst="roundRect">
            <a:avLst>
              <a:gd name="adj" fmla="val 150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19400" y="4531221"/>
            <a:ext cx="647700" cy="634900"/>
          </a:xfrm>
          <a:prstGeom prst="roundRect">
            <a:avLst>
              <a:gd name="adj" fmla="val 150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62400" y="3266033"/>
            <a:ext cx="304800" cy="295275"/>
          </a:xfrm>
          <a:prstGeom prst="roundRect">
            <a:avLst>
              <a:gd name="adj" fmla="val 2580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62450" y="3246983"/>
            <a:ext cx="1000125" cy="333375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62400" y="3713708"/>
            <a:ext cx="323850" cy="295275"/>
          </a:xfrm>
          <a:prstGeom prst="roundRect">
            <a:avLst>
              <a:gd name="adj" fmla="val 2580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1500" y="3694658"/>
            <a:ext cx="1000125" cy="333375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962400" y="4161383"/>
            <a:ext cx="333375" cy="295275"/>
          </a:xfrm>
          <a:prstGeom prst="roundRect">
            <a:avLst>
              <a:gd name="adj" fmla="val 2580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91025" y="4142333"/>
            <a:ext cx="2019300" cy="333375"/>
          </a:xfrm>
          <a:prstGeom prst="roundRect">
            <a:avLst>
              <a:gd name="adj" fmla="val 4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962400" y="4609058"/>
            <a:ext cx="333375" cy="295275"/>
          </a:xfrm>
          <a:prstGeom prst="roundRect">
            <a:avLst>
              <a:gd name="adj" fmla="val 2580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91025" y="4590008"/>
            <a:ext cx="1000125" cy="333375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962400" y="5056733"/>
            <a:ext cx="323850" cy="295275"/>
          </a:xfrm>
          <a:prstGeom prst="roundRect">
            <a:avLst>
              <a:gd name="adj" fmla="val 2580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81500" y="5037683"/>
            <a:ext cx="1000125" cy="333375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1762" y="3585120"/>
            <a:ext cx="257175" cy="3429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800" y="509587"/>
            <a:ext cx="25050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Rubik"/>
              </a:rPr>
              <a:t>ИГРОВАЯ ЗАДАЧА · ПУТЬ РОБОТА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72825" y="4191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Rubik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952500"/>
            <a:ext cx="116586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1E1E2F"/>
                </a:solidFill>
                <a:latin typeface="Rubik"/>
              </a:rPr>
              <a:t>Наблюдаем за роботом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" y="1398240"/>
            <a:ext cx="116586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Rubik"/>
              </a:rPr>
              <a:t>Выполни последовательность команд мысленно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52625" y="3108870"/>
            <a:ext cx="933450" cy="634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2400" i="0" u="none">
                <a:solidFill>
                  <a:srgbClr val="1E1E2F"/>
                </a:solidFill>
                <a:latin typeface="Rubik"/>
              </a:rPr>
              <a:t>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825" y="4531221"/>
            <a:ext cx="933450" cy="634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800" i="0" u="none">
                <a:solidFill>
                  <a:srgbClr val="1E1E2F"/>
                </a:solidFill>
                <a:latin typeface="Rubik"/>
              </a:rPr>
              <a:t>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2400" y="2904083"/>
            <a:ext cx="635079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1E2F"/>
                </a:solidFill>
                <a:latin typeface="Rubik"/>
              </a:rPr>
              <a:t>Последовательность команд: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5190" y="4042320"/>
            <a:ext cx="255031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Rubik"/>
              </a:rPr>
              <a:t>Вопрос: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5912" y="4328070"/>
            <a:ext cx="24288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FFFFF"/>
                </a:solidFill>
                <a:latin typeface="Rubik"/>
              </a:rPr>
              <a:t>Дойдёт ли робот до звёздочки ⭐?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76700" y="3323183"/>
            <a:ext cx="1714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14850" y="3323183"/>
            <a:ext cx="7905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Rubik"/>
              </a:rPr>
              <a:t>↑ Вперёд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76700" y="3770858"/>
            <a:ext cx="1905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33900" y="3770858"/>
            <a:ext cx="7905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Rubik"/>
              </a:rPr>
              <a:t>↑ Вперёд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76700" y="4218533"/>
            <a:ext cx="2000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43425" y="4218533"/>
            <a:ext cx="180975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Rubik"/>
              </a:rPr>
              <a:t>↷ Повернуть направо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76700" y="4666208"/>
            <a:ext cx="2000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43425" y="4666208"/>
            <a:ext cx="7905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Rubik"/>
              </a:rPr>
              <a:t>↑ Вперёд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76700" y="5113883"/>
            <a:ext cx="1905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33900" y="5113883"/>
            <a:ext cx="7905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Rubik"/>
              </a:rPr>
              <a:t>↑ Вперёд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991225"/>
            <a:ext cx="11125200" cy="447675"/>
          </a:xfrm>
          <a:prstGeom prst="roundRect">
            <a:avLst>
              <a:gd name="adj" fmla="val 29787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33387"/>
            <a:ext cx="2405062" cy="314325"/>
          </a:xfrm>
          <a:prstGeom prst="roundRect">
            <a:avLst>
              <a:gd name="adj" fmla="val 36363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315700" y="4191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3400" y="2675483"/>
            <a:ext cx="5410200" cy="2476500"/>
          </a:xfrm>
          <a:prstGeom prst="roundRect">
            <a:avLst>
              <a:gd name="adj" fmla="val 7692"/>
            </a:avLst>
          </a:prstGeom>
          <a:solidFill>
            <a:srgbClr val="FEF2F2"/>
          </a:solidFill>
          <a:ln w="19050">
            <a:solidFill>
              <a:srgbClr val="FF5A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8400" y="3089820"/>
            <a:ext cx="5410200" cy="1647825"/>
          </a:xfrm>
          <a:prstGeom prst="roundRect">
            <a:avLst>
              <a:gd name="adj" fmla="val 11560"/>
            </a:avLst>
          </a:prstGeom>
          <a:solidFill>
            <a:srgbClr val="ECFDF5"/>
          </a:solidFill>
          <a:ln w="19050">
            <a:solidFill>
              <a:srgbClr val="00D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1050" y="3304133"/>
            <a:ext cx="4914900" cy="333375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1050" y="3713708"/>
            <a:ext cx="4914900" cy="333375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1050" y="4123283"/>
            <a:ext cx="4914900" cy="371475"/>
          </a:xfrm>
          <a:prstGeom prst="roundRect">
            <a:avLst>
              <a:gd name="adj" fmla="val 20512"/>
            </a:avLst>
          </a:prstGeom>
          <a:solidFill>
            <a:srgbClr val="FEE2E2"/>
          </a:solidFill>
          <a:ln w="19050">
            <a:solidFill>
              <a:srgbClr val="FF5A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050" y="4570958"/>
            <a:ext cx="4914900" cy="333375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-361950" y="6124575"/>
            <a:ext cx="129159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F46E5"/>
                </a:solidFill>
                <a:latin typeface="Rubik"/>
              </a:rPr>
              <a:t>🔍 Поиск ошибок в программах называется «отладкой» (debugging)!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9587"/>
            <a:ext cx="219551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Rubik"/>
              </a:rPr>
              <a:t>ПРАКТИКА · НАЙДИ ОШИБКУ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2825" y="4191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Rubik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952500"/>
            <a:ext cx="116586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1E1E2F"/>
                </a:solidFill>
                <a:latin typeface="Rubik"/>
              </a:rPr>
              <a:t>Найди ошибку в коде!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1398240"/>
            <a:ext cx="116586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Rubik"/>
              </a:rPr>
              <a:t>Одна из команд приводит робота не туда. Где ошибка?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2923133"/>
            <a:ext cx="64508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Rubik"/>
              </a:rPr>
              <a:t>❌ Ошибочный алгоритм: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6050" y="3337470"/>
            <a:ext cx="56959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65F46"/>
                </a:solidFill>
                <a:latin typeface="Rubik"/>
              </a:rPr>
              <a:t>✅ Как исправить: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6050" y="3718470"/>
            <a:ext cx="50101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047857"/>
                </a:solidFill>
                <a:latin typeface="Rubik"/>
              </a:rPr>
              <a:t>Замени команду </a:t>
            </a:r>
            <a:r>
              <a:rPr b="1" sz="1350" i="0" u="none">
                <a:solidFill>
                  <a:srgbClr val="047857"/>
                </a:solidFill>
                <a:latin typeface="Rubik"/>
              </a:rPr>
              <a:t>«Налево»</a:t>
            </a:r>
            <a:r>
              <a:rPr b="0" sz="1350" i="0" u="none">
                <a:solidFill>
                  <a:srgbClr val="047857"/>
                </a:solidFill>
                <a:latin typeface="Rubik"/>
              </a:rPr>
              <a:t> на команду </a:t>
            </a:r>
            <a:r>
              <a:rPr b="1" sz="1350" i="0" u="none">
                <a:solidFill>
                  <a:srgbClr val="047857"/>
                </a:solidFill>
                <a:latin typeface="Rubik"/>
              </a:rPr>
              <a:t>«Вперёд»</a:t>
            </a:r>
            <a:r>
              <a:rPr b="0" sz="1350" i="0" u="none">
                <a:solidFill>
                  <a:srgbClr val="047857"/>
                </a:solidFill>
                <a:latin typeface="Rubik"/>
              </a:rPr>
              <a:t>! </a:t>
            </a:r>
            <a:r>
              <a:t>
</a:t>
            </a:r>
            <a:r>
              <a:t>
</a:t>
            </a:r>
            <a:r>
              <a:rPr b="0" sz="1350" i="0" u="none">
                <a:solidFill>
                  <a:srgbClr val="047857"/>
                </a:solidFill>
                <a:latin typeface="Rubik"/>
              </a:rPr>
              <a:t> Так робот не сбьётся с пути и дойдёт точно до цели.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80333"/>
            <a:ext cx="47434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1. ↑ Вперёд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89908"/>
            <a:ext cx="47434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2. ↷ Направо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99483"/>
            <a:ext cx="47434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Rubik"/>
              </a:rPr>
              <a:t>3. ↶ Налево ❓ (ОШИБКА!)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47158"/>
            <a:ext cx="47434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4. ↑ Вперёд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781377"/>
            <a:ext cx="11125200" cy="657225"/>
          </a:xfrm>
          <a:prstGeom prst="roundRect">
            <a:avLst>
              <a:gd name="adj" fmla="val 28985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33387"/>
            <a:ext cx="2095500" cy="314325"/>
          </a:xfrm>
          <a:prstGeom prst="roundRect">
            <a:avLst>
              <a:gd name="adj" fmla="val 36363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315700" y="4191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3400" y="2967781"/>
            <a:ext cx="5467350" cy="933450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0" y="2967781"/>
            <a:ext cx="5467350" cy="933450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3400" y="4091731"/>
            <a:ext cx="5467350" cy="933450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1250" y="4091731"/>
            <a:ext cx="5467350" cy="933450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1525" y="3205906"/>
            <a:ext cx="457200" cy="457200"/>
          </a:xfrm>
          <a:prstGeom prst="roundRect">
            <a:avLst>
              <a:gd name="adj" fmla="val 29166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29375" y="3205906"/>
            <a:ext cx="442466" cy="457200"/>
          </a:xfrm>
          <a:prstGeom prst="roundRect">
            <a:avLst>
              <a:gd name="adj" fmla="val 30137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1525" y="4329856"/>
            <a:ext cx="457200" cy="457200"/>
          </a:xfrm>
          <a:prstGeom prst="roundRect">
            <a:avLst>
              <a:gd name="adj" fmla="val 29166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29375" y="4329856"/>
            <a:ext cx="457200" cy="457200"/>
          </a:xfrm>
          <a:prstGeom prst="roundRect">
            <a:avLst>
              <a:gd name="adj" fmla="val 29166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72650" y="5971877"/>
            <a:ext cx="771525" cy="276225"/>
          </a:xfrm>
          <a:prstGeom prst="roundRect">
            <a:avLst>
              <a:gd name="adj" fmla="val 27586"/>
            </a:avLst>
          </a:prstGeom>
          <a:solidFill>
            <a:srgbClr val="00D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620375" y="5971877"/>
            <a:ext cx="733425" cy="276225"/>
          </a:xfrm>
          <a:prstGeom prst="roundRect">
            <a:avLst>
              <a:gd name="adj" fmla="val 27586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09587"/>
            <a:ext cx="18859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Rubik"/>
              </a:rPr>
              <a:t>ИТОГИ УРОКА · ВЫВОДЫ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2825" y="4191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Rubik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1518195"/>
            <a:ext cx="116586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1E1E2F"/>
                </a:solidFill>
                <a:latin typeface="Rubik"/>
              </a:rPr>
              <a:t>Что мы сегодня узнали?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1963935"/>
            <a:ext cx="116586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Rubik"/>
              </a:rPr>
              <a:t>4 главных правила построения алгоритмов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6005214"/>
            <a:ext cx="88820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Rubik"/>
              </a:rPr>
              <a:t>🚀 Следующий шаг — давать команды с помощью цветных программных блоков!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50" y="3205906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650" i="0" u="none">
                <a:solidFill>
                  <a:srgbClr val="4F46E5"/>
                </a:solidFill>
                <a:latin typeface="Rubik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1125" y="3339256"/>
            <a:ext cx="45362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E1E2F"/>
                </a:solidFill>
                <a:latin typeface="Rubik"/>
              </a:rPr>
              <a:t>Команда — это понятное и точное указание.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0" y="3205906"/>
            <a:ext cx="7282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650" i="0" u="none">
                <a:solidFill>
                  <a:srgbClr val="4F46E5"/>
                </a:solidFill>
                <a:latin typeface="Rubik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4241" y="3244006"/>
            <a:ext cx="4491483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E1E2F"/>
                </a:solidFill>
                <a:latin typeface="Rubik"/>
              </a:rPr>
              <a:t>Команды выполняет исполнитель (робот, человек, ПК).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" y="4329856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650" i="0" u="none">
                <a:solidFill>
                  <a:srgbClr val="4F46E5"/>
                </a:solidFill>
                <a:latin typeface="Rubik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1125" y="4463206"/>
            <a:ext cx="4321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E1E2F"/>
                </a:solidFill>
                <a:latin typeface="Rubik"/>
              </a:rPr>
              <a:t>У исполнителя есть своя система команд.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0" y="4329856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650" i="0" u="none">
                <a:solidFill>
                  <a:srgbClr val="4F46E5"/>
                </a:solidFill>
                <a:latin typeface="Rubik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38975" y="4463206"/>
            <a:ext cx="4953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E1E2F"/>
                </a:solidFill>
                <a:latin typeface="Rubik"/>
              </a:rPr>
              <a:t>Порядок команд строгий и влияет на результат.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86950" y="6029027"/>
            <a:ext cx="6381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Rubik"/>
              </a:rPr>
              <a:t>Scratch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34675" y="6029027"/>
            <a:ext cx="6000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Rubik"/>
              </a:rPr>
              <a:t>Blockly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5867400"/>
            <a:ext cx="11125200" cy="57150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433387"/>
            <a:ext cx="2333625" cy="314325"/>
          </a:xfrm>
          <a:prstGeom prst="roundRect">
            <a:avLst>
              <a:gd name="adj" fmla="val 36363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315700" y="4191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2417861"/>
            <a:ext cx="3606700" cy="657225"/>
          </a:xfrm>
          <a:prstGeom prst="roundRect">
            <a:avLst>
              <a:gd name="adj" fmla="val 289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2500" y="2417861"/>
            <a:ext cx="3606849" cy="657225"/>
          </a:xfrm>
          <a:prstGeom prst="roundRect">
            <a:avLst>
              <a:gd name="adj" fmla="val 289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51750" y="2417861"/>
            <a:ext cx="3606700" cy="657225"/>
          </a:xfrm>
          <a:prstGeom prst="roundRect">
            <a:avLst>
              <a:gd name="adj" fmla="val 289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3400" y="4509492"/>
            <a:ext cx="3606700" cy="657225"/>
          </a:xfrm>
          <a:prstGeom prst="roundRect">
            <a:avLst>
              <a:gd name="adj" fmla="val 289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2500" y="4509492"/>
            <a:ext cx="3606849" cy="657225"/>
          </a:xfrm>
          <a:prstGeom prst="roundRect">
            <a:avLst>
              <a:gd name="adj" fmla="val 289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51750" y="4390429"/>
            <a:ext cx="3606700" cy="895350"/>
          </a:xfrm>
          <a:prstGeom prst="roundRect">
            <a:avLst>
              <a:gd name="adj" fmla="val 21276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700" y="4580929"/>
            <a:ext cx="3048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-342900" y="6038850"/>
            <a:ext cx="12877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Rubik"/>
              </a:rPr>
              <a:t>🎮 Готов попробовать давать команды с помощью программных блоков?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09587"/>
            <a:ext cx="21240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Rubik"/>
              </a:rPr>
              <a:t>САМОПРОВЕРКА · ВОПРОСЫ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72825" y="4191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Rubik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952500"/>
            <a:ext cx="116586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1E1E2F"/>
                </a:solidFill>
                <a:latin typeface="Rubik"/>
              </a:rPr>
              <a:t>Проверь себя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1398240"/>
            <a:ext cx="116586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Rubik"/>
              </a:rPr>
              <a:t>Ответь на вопросы, чтобы закрепить материал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2646461"/>
            <a:ext cx="3244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1. Что такое команда?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1100" y="2646461"/>
            <a:ext cx="324489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2. Кто такой исполнитель?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350" y="2646461"/>
            <a:ext cx="3244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3. Назови 3 команды робота.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738092"/>
            <a:ext cx="3244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4. Почему важен порядок команд?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100" y="4738092"/>
            <a:ext cx="324489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E2F"/>
                </a:solidFill>
                <a:latin typeface="Rubik"/>
              </a:rPr>
              <a:t>5. Что случится при ошибке в порядке?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9037" y="4923829"/>
            <a:ext cx="4032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FFFFF"/>
                </a:solidFill>
                <a:latin typeface="Rubik"/>
              </a:rPr>
              <a:t>Отличная работа!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