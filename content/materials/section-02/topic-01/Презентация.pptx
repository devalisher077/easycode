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embeddedFontLst>
    <p:embeddedFont>
      <p:font typeface="Rubik"/>
      <p:bold r:id="rId1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33400" y="433387"/>
            <a:ext cx="2219325" cy="314325"/>
          </a:xfrm>
          <a:prstGeom prst="roundRect">
            <a:avLst>
              <a:gd name="adj" fmla="val 36363"/>
            </a:avLst>
          </a:prstGeom>
          <a:solidFill>
            <a:srgbClr val="312E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1315700" y="419100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553450" y="4224337"/>
            <a:ext cx="3105150" cy="428625"/>
          </a:xfrm>
          <a:prstGeom prst="roundRect">
            <a:avLst>
              <a:gd name="adj" fmla="val 35555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33400" y="4340423"/>
            <a:ext cx="1419225" cy="438150"/>
          </a:xfrm>
          <a:prstGeom prst="roundRect">
            <a:avLst>
              <a:gd name="adj" fmla="val 26086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105025" y="4340423"/>
            <a:ext cx="1857375" cy="438150"/>
          </a:xfrm>
          <a:prstGeom prst="roundRect">
            <a:avLst>
              <a:gd name="adj" fmla="val 26086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114800" y="4340423"/>
            <a:ext cx="2324100" cy="438150"/>
          </a:xfrm>
          <a:prstGeom prst="roundRect">
            <a:avLst>
              <a:gd name="adj" fmla="val 26086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9275" y="2700337"/>
            <a:ext cx="1333500" cy="13335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7400" y="3024187"/>
            <a:ext cx="857250" cy="6858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900" y="4473773"/>
            <a:ext cx="152400" cy="17145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95525" y="4473773"/>
            <a:ext cx="104775" cy="17145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05300" y="4473773"/>
            <a:ext cx="171450" cy="1714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5800" y="509587"/>
            <a:ext cx="2009775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A5B4FC"/>
                </a:solidFill>
                <a:latin typeface="Rubik"/>
              </a:rPr>
              <a:t>EASYCODE AI · МОДУЛЬ 2.1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72825" y="419100"/>
            <a:ext cx="62865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 u="none">
                <a:solidFill>
                  <a:srgbClr val="94A3B8"/>
                </a:solidFill>
                <a:latin typeface="Rubik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2574726"/>
            <a:ext cx="8041005" cy="10513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140"/>
              </a:lnSpc>
            </a:pPr>
            <a:r>
              <a:rPr sz="3450" b="1" i="0" u="none">
                <a:solidFill>
                  <a:srgbClr val="FFFFFF"/>
                </a:solidFill>
                <a:latin typeface="Rubik"/>
              </a:rPr>
              <a:t>2.1 Знакомство со средой блочного программирования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3778448"/>
            <a:ext cx="9453562" cy="2571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C7D2FE"/>
                </a:solidFill>
                <a:latin typeface="Rubik"/>
              </a:rPr>
              <a:t>Твой первый шаг к созданию собственных игр и программ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82050" y="4338637"/>
            <a:ext cx="274320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0D196"/>
                </a:solidFill>
                <a:latin typeface="Rubik"/>
              </a:rPr>
              <a:t>Добро пожаловать в мир кода! 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0600" y="4454723"/>
            <a:ext cx="866775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 i="0" u="none">
                <a:solidFill>
                  <a:srgbClr val="F8FAFC"/>
                </a:solidFill>
                <a:latin typeface="Rubik"/>
              </a:rPr>
              <a:t>Старт 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4600" y="4454723"/>
            <a:ext cx="13525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Rubik"/>
              </a:rPr>
              <a:t>Идти 10 шагов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1050" y="4454723"/>
            <a:ext cx="17526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Rubik"/>
              </a:rPr>
              <a:t>Сказать «Привет!»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33400" y="433387"/>
            <a:ext cx="1990725" cy="314325"/>
          </a:xfrm>
          <a:prstGeom prst="roundRect">
            <a:avLst>
              <a:gd name="adj" fmla="val 36363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1315700" y="419100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33400" y="2415480"/>
            <a:ext cx="3581400" cy="933450"/>
          </a:xfrm>
          <a:prstGeom prst="roundRect">
            <a:avLst>
              <a:gd name="adj" fmla="val 20408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305300" y="2415480"/>
            <a:ext cx="3581400" cy="933450"/>
          </a:xfrm>
          <a:prstGeom prst="roundRect">
            <a:avLst>
              <a:gd name="adj" fmla="val 20408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077200" y="2415480"/>
            <a:ext cx="3581400" cy="933450"/>
          </a:xfrm>
          <a:prstGeom prst="roundRect">
            <a:avLst>
              <a:gd name="adj" fmla="val 20408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33400" y="4850010"/>
            <a:ext cx="3581400" cy="933450"/>
          </a:xfrm>
          <a:prstGeom prst="roundRect">
            <a:avLst>
              <a:gd name="adj" fmla="val 20408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305300" y="4850010"/>
            <a:ext cx="3581400" cy="933450"/>
          </a:xfrm>
          <a:prstGeom prst="roundRect">
            <a:avLst>
              <a:gd name="adj" fmla="val 20408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077200" y="4916685"/>
            <a:ext cx="3581400" cy="800100"/>
          </a:xfrm>
          <a:prstGeom prst="roundRect">
            <a:avLst>
              <a:gd name="adj" fmla="val 23809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2653605"/>
            <a:ext cx="457200" cy="4572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3425" y="2653605"/>
            <a:ext cx="457200" cy="4572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5325" y="2653605"/>
            <a:ext cx="457200" cy="4572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525" y="5088135"/>
            <a:ext cx="457200" cy="4572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3425" y="5088135"/>
            <a:ext cx="457200" cy="45720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1062" y="2777430"/>
            <a:ext cx="238125" cy="20955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1062" y="2777430"/>
            <a:ext cx="161925" cy="20955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39150" y="2777430"/>
            <a:ext cx="209550" cy="20955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" y="5211960"/>
            <a:ext cx="209550" cy="20955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91062" y="5211960"/>
            <a:ext cx="161925" cy="20955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67700" y="5178623"/>
            <a:ext cx="266700" cy="2667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85800" y="509587"/>
            <a:ext cx="1781175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4F46E5"/>
                </a:solidFill>
                <a:latin typeface="Rubik"/>
              </a:rPr>
              <a:t>EASYCODE AI · УРОК 2.1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2825" y="419100"/>
            <a:ext cx="62865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 u="none">
                <a:solidFill>
                  <a:srgbClr val="475569"/>
                </a:solidFill>
                <a:latin typeface="Rubik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" y="914400"/>
            <a:ext cx="11658600" cy="3885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1" i="0" u="none">
                <a:solidFill>
                  <a:srgbClr val="1E1E2F"/>
                </a:solidFill>
                <a:latin typeface="Rubik"/>
              </a:rPr>
              <a:t>Цели урока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" y="1360140"/>
            <a:ext cx="11658600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Rubik"/>
              </a:rPr>
              <a:t>Чему мы научимся сегодня на занятии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1125" y="2777430"/>
            <a:ext cx="2738437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E1E2F"/>
                </a:solidFill>
                <a:latin typeface="Rubik"/>
              </a:rPr>
              <a:t>Узнаем элементы экрана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53025" y="2672655"/>
            <a:ext cx="25908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E1E2F"/>
                </a:solidFill>
                <a:latin typeface="Rubik"/>
              </a:rPr>
              <a:t>Познакомимся со спрайтом и сценой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24925" y="2672655"/>
            <a:ext cx="25908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E1E2F"/>
                </a:solidFill>
                <a:latin typeface="Rubik"/>
              </a:rPr>
              <a:t>Разберем цвета и группы блоков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81125" y="5211960"/>
            <a:ext cx="2631281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E1E2F"/>
                </a:solidFill>
                <a:latin typeface="Rubik"/>
              </a:rPr>
              <a:t>Соберем первый скрипт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53025" y="5107185"/>
            <a:ext cx="25908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E1E2F"/>
                </a:solidFill>
                <a:latin typeface="Rubik"/>
              </a:rPr>
              <a:t>Запустим готовую программу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5107185"/>
            <a:ext cx="287655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Rubik"/>
              </a:rPr>
              <a:t>Готовы создавать свои первые проекты!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33400" y="5953125"/>
            <a:ext cx="11125200" cy="485775"/>
          </a:xfrm>
          <a:prstGeom prst="roundRect">
            <a:avLst>
              <a:gd name="adj" fmla="val 23529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33400" y="5953125"/>
            <a:ext cx="57150" cy="485775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33400" y="433387"/>
            <a:ext cx="2243137" cy="314325"/>
          </a:xfrm>
          <a:prstGeom prst="roundRect">
            <a:avLst>
              <a:gd name="adj" fmla="val 36363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1315700" y="419100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33400" y="2942183"/>
            <a:ext cx="5124450" cy="1828800"/>
          </a:xfrm>
          <a:prstGeom prst="roundRect">
            <a:avLst>
              <a:gd name="adj" fmla="val 10416"/>
            </a:avLst>
          </a:prstGeom>
          <a:solidFill>
            <a:srgbClr val="FEF2F2"/>
          </a:solidFill>
          <a:ln w="19050">
            <a:solidFill>
              <a:srgbClr val="FF5A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534150" y="2875508"/>
            <a:ext cx="5124450" cy="1962150"/>
          </a:xfrm>
          <a:prstGeom prst="roundRect">
            <a:avLst>
              <a:gd name="adj" fmla="val 9708"/>
            </a:avLst>
          </a:prstGeom>
          <a:solidFill>
            <a:srgbClr val="ECFDF5"/>
          </a:solidFill>
          <a:ln w="19050">
            <a:solidFill>
              <a:srgbClr val="00D1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42950" y="3494633"/>
            <a:ext cx="4705350" cy="590550"/>
          </a:xfrm>
          <a:prstGeom prst="roundRect">
            <a:avLst>
              <a:gd name="adj" fmla="val 1935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743700" y="3427958"/>
            <a:ext cx="4705350" cy="323850"/>
          </a:xfrm>
          <a:prstGeom prst="roundRect">
            <a:avLst>
              <a:gd name="adj" fmla="val 35294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743700" y="3828008"/>
            <a:ext cx="4705350" cy="323850"/>
          </a:xfrm>
          <a:prstGeom prst="roundRect">
            <a:avLst>
              <a:gd name="adj" fmla="val 35294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3170783"/>
            <a:ext cx="238125" cy="1905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3700" y="3104108"/>
            <a:ext cx="219075" cy="1905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3900" y="6105525"/>
            <a:ext cx="10839450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312E81"/>
                </a:solidFill>
                <a:latin typeface="Rubik"/>
              </a:rPr>
              <a:t>💡 Вместо ввода символов — просто соединяем яркие цветные блоки!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09587"/>
            <a:ext cx="2033587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4F46E5"/>
                </a:solidFill>
                <a:latin typeface="Rubik"/>
              </a:rPr>
              <a:t>МОТИВАЦИЯ · СРАВНЕНИЕ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72825" y="419100"/>
            <a:ext cx="62865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 u="none">
                <a:solidFill>
                  <a:srgbClr val="475569"/>
                </a:solidFill>
                <a:latin typeface="Rubi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914400"/>
            <a:ext cx="11658600" cy="3885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1" i="0" u="none">
                <a:solidFill>
                  <a:srgbClr val="1E1E2F"/>
                </a:solidFill>
                <a:latin typeface="Rubik"/>
              </a:rPr>
              <a:t>Почему блочный код — это удобно?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1360140"/>
            <a:ext cx="11658600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Rubik"/>
              </a:rPr>
              <a:t>Сравнение текстового кода и цветных блоков-пазлов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6450" y="3675608"/>
            <a:ext cx="704850" cy="3619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4F46E5"/>
                </a:solidFill>
                <a:latin typeface="Rubik"/>
              </a:rPr>
              <a:t>VS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7275" y="3151733"/>
            <a:ext cx="5567362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500" b="1" i="0" u="none">
                <a:solidFill>
                  <a:srgbClr val="991B1B"/>
                </a:solidFill>
                <a:latin typeface="Rubik"/>
              </a:rPr>
              <a:t>Текстовый код 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3608933"/>
            <a:ext cx="4572000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1E1E2F"/>
                </a:solidFill>
                <a:latin typeface="monospace"/>
              </a:rPr>
              <a:t>print("Hello World!");</a:t>
            </a:r>
            <a:r>
              <a:t>
</a:t>
            </a:r>
            <a:r>
              <a:rPr sz="1200" b="1" i="0" u="none">
                <a:solidFill>
                  <a:srgbClr val="1E1E2F"/>
                </a:solidFill>
                <a:latin typeface="monospace"/>
              </a:rPr>
              <a:t> if (x &gt; 10) { move(); 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2950" y="4199483"/>
            <a:ext cx="4800600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B91C1C"/>
                </a:solidFill>
                <a:latin typeface="Rubik"/>
              </a:rPr>
              <a:t>Легко ошибиться в скобках, точках и правилах написания слов.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38975" y="3085058"/>
            <a:ext cx="5153025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500" b="1" i="0" u="none">
                <a:solidFill>
                  <a:srgbClr val="065F46"/>
                </a:solidFill>
                <a:latin typeface="Rubik"/>
              </a:rPr>
              <a:t>Блочный код 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43700" y="4266158"/>
            <a:ext cx="4800600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47857"/>
                </a:solidFill>
                <a:latin typeface="Rubik"/>
              </a:rPr>
              <a:t>Собирается как конструктор LEGO. Никаких опечаток и ошибок синтаксиса!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77050" y="3504158"/>
            <a:ext cx="4533900" cy="1714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25" b="1" i="0" u="none">
                <a:solidFill>
                  <a:srgbClr val="F8FAFC"/>
                </a:solidFill>
                <a:latin typeface="Rubik"/>
              </a:rPr>
              <a:t>Когда кликнут по 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77050" y="3904208"/>
            <a:ext cx="4533900" cy="1714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25" b="1" i="0" u="none">
                <a:solidFill>
                  <a:srgbClr val="FFFFFF"/>
                </a:solidFill>
                <a:latin typeface="Rubik"/>
              </a:rPr>
              <a:t>идти 10 шагов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33400" y="914400"/>
            <a:ext cx="11125200" cy="1047750"/>
          </a:xfrm>
          <a:prstGeom prst="roundRect">
            <a:avLst>
              <a:gd name="adj" fmla="val 18181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33400" y="5991225"/>
            <a:ext cx="11125200" cy="447675"/>
          </a:xfrm>
          <a:prstGeom prst="roundRect">
            <a:avLst>
              <a:gd name="adj" fmla="val 29787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33400" y="433387"/>
            <a:ext cx="2195512" cy="314325"/>
          </a:xfrm>
          <a:prstGeom prst="roundRect">
            <a:avLst>
              <a:gd name="adj" fmla="val 36363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1315700" y="419100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33400" y="3076575"/>
            <a:ext cx="3581400" cy="1876425"/>
          </a:xfrm>
          <a:prstGeom prst="roundRect">
            <a:avLst>
              <a:gd name="adj" fmla="val 10152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305300" y="3076575"/>
            <a:ext cx="3581400" cy="1876425"/>
          </a:xfrm>
          <a:prstGeom prst="roundRect">
            <a:avLst>
              <a:gd name="adj" fmla="val 10152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077200" y="3076575"/>
            <a:ext cx="3581400" cy="1876425"/>
          </a:xfrm>
          <a:prstGeom prst="roundRect">
            <a:avLst>
              <a:gd name="adj" fmla="val 10152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247775"/>
            <a:ext cx="381000" cy="3810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9300" y="3314700"/>
            <a:ext cx="609600" cy="6096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1200" y="3314700"/>
            <a:ext cx="609600" cy="6096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63100" y="3314700"/>
            <a:ext cx="609600" cy="6096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90750" y="3486150"/>
            <a:ext cx="266700" cy="2667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62650" y="3486150"/>
            <a:ext cx="266700" cy="26670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15500" y="3486150"/>
            <a:ext cx="304800" cy="2667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-361950" y="6124575"/>
            <a:ext cx="12915900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4F46E5"/>
                </a:solidFill>
                <a:latin typeface="Rubik"/>
              </a:rPr>
              <a:t>🎨 Любой алгоритм превращается в легкую и понятную игру-конструктор!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09587"/>
            <a:ext cx="1985962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4F46E5"/>
                </a:solidFill>
                <a:latin typeface="Rubik"/>
              </a:rPr>
              <a:t>ОПРЕДЕЛЕНИЕ · ПОНЯТИЕ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2825" y="419100"/>
            <a:ext cx="62865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 u="none">
                <a:solidFill>
                  <a:srgbClr val="475569"/>
                </a:solidFill>
                <a:latin typeface="Rubik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5247" y="4038600"/>
            <a:ext cx="1637704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25" b="1" i="0" u="none">
                <a:solidFill>
                  <a:srgbClr val="1E1E2F"/>
                </a:solidFill>
                <a:latin typeface="Rubik"/>
              </a:rPr>
              <a:t>Блоки-пазлы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3381" y="4371975"/>
            <a:ext cx="3881437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25" b="0" i="0" u="none">
                <a:solidFill>
                  <a:srgbClr val="64748B"/>
                </a:solidFill>
                <a:latin typeface="Rubik"/>
              </a:rPr>
              <a:t>Каждая команда представлена цветным фрагментом с замочком.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7110" y="4038600"/>
            <a:ext cx="2237779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25" b="1" i="0" u="none">
                <a:solidFill>
                  <a:srgbClr val="1E1E2F"/>
                </a:solidFill>
                <a:latin typeface="Rubik"/>
              </a:rPr>
              <a:t>Защита от ошибок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5281" y="4371975"/>
            <a:ext cx="3881437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25" b="0" i="0" u="none">
                <a:solidFill>
                  <a:srgbClr val="64748B"/>
                </a:solidFill>
                <a:latin typeface="Rubik"/>
              </a:rPr>
              <a:t>Нельзя соединить блоки, которые не подходят друг другу.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5223" y="4038600"/>
            <a:ext cx="2825353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25" b="1" i="0" u="none">
                <a:solidFill>
                  <a:srgbClr val="1E1E2F"/>
                </a:solidFill>
                <a:latin typeface="Rubik"/>
              </a:rPr>
              <a:t>Мгновенный результат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27181" y="4371975"/>
            <a:ext cx="3881437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25" b="0" i="0" u="none">
                <a:solidFill>
                  <a:srgbClr val="64748B"/>
                </a:solidFill>
                <a:latin typeface="Rubik"/>
              </a:rPr>
              <a:t>Результат работы программы виден сразу на экране!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33500" y="1143000"/>
            <a:ext cx="10858500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FFFFFF"/>
                </a:solidFill>
                <a:latin typeface="Rubik"/>
              </a:rPr>
              <a:t>Что такое среда блочного программирования?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33500" y="1466850"/>
            <a:ext cx="10858500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u="none">
                <a:solidFill>
                  <a:srgbClr val="FFFFFF"/>
                </a:solidFill>
                <a:latin typeface="Rubik"/>
              </a:rPr>
              <a:t>Это </a:t>
            </a:r>
            <a:r>
              <a:rPr sz="1500" b="1" i="0" u="none">
                <a:solidFill>
                  <a:srgbClr val="FFFFFF"/>
                </a:solidFill>
                <a:latin typeface="Rubik"/>
              </a:rPr>
              <a:t>виртуальная мастерская</a:t>
            </a:r>
            <a:r>
              <a:rPr sz="1500" b="0" i="0" u="none">
                <a:solidFill>
                  <a:srgbClr val="FFFFFF"/>
                </a:solidFill>
                <a:latin typeface="Rubik"/>
              </a:rPr>
              <a:t>, в которой программы собираются из готовых цветных блоков-пазлов.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33400" y="433387"/>
            <a:ext cx="1885950" cy="314325"/>
          </a:xfrm>
          <a:prstGeom prst="roundRect">
            <a:avLst>
              <a:gd name="adj" fmla="val 36363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1315700" y="419100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33400" y="2286892"/>
            <a:ext cx="5467350" cy="1190625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191250" y="2286892"/>
            <a:ext cx="5467350" cy="1190625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33400" y="4721423"/>
            <a:ext cx="5467350" cy="1190625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191250" y="4721423"/>
            <a:ext cx="5467350" cy="1190625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33400" y="3467992"/>
            <a:ext cx="54673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33400" y="2286892"/>
            <a:ext cx="54673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33400" y="2286892"/>
            <a:ext cx="57150" cy="119062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991225" y="2286892"/>
            <a:ext cx="9525" cy="11906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91250" y="3467992"/>
            <a:ext cx="54673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91250" y="2286892"/>
            <a:ext cx="54673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91250" y="2286892"/>
            <a:ext cx="57150" cy="119062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1649075" y="2286892"/>
            <a:ext cx="9525" cy="11906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33400" y="5902523"/>
            <a:ext cx="54673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33400" y="4721423"/>
            <a:ext cx="54673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33400" y="4721423"/>
            <a:ext cx="57150" cy="11906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991225" y="4721423"/>
            <a:ext cx="9525" cy="11906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91250" y="5902523"/>
            <a:ext cx="54673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191250" y="4721423"/>
            <a:ext cx="54673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91250" y="4721423"/>
            <a:ext cx="57150" cy="1190625"/>
          </a:xfrm>
          <a:prstGeom prst="rect">
            <a:avLst/>
          </a:prstGeom>
          <a:solidFill>
            <a:srgbClr val="00D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1649075" y="4721423"/>
            <a:ext cx="9525" cy="11906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19150" y="2525017"/>
            <a:ext cx="714375" cy="276225"/>
          </a:xfrm>
          <a:prstGeom prst="roundRect">
            <a:avLst>
              <a:gd name="adj" fmla="val 27586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77000" y="2525017"/>
            <a:ext cx="733425" cy="276225"/>
          </a:xfrm>
          <a:prstGeom prst="roundRect">
            <a:avLst>
              <a:gd name="adj" fmla="val 27586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819150" y="4959548"/>
            <a:ext cx="742950" cy="276225"/>
          </a:xfrm>
          <a:prstGeom prst="roundRect">
            <a:avLst>
              <a:gd name="adj" fmla="val 27586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477000" y="4959548"/>
            <a:ext cx="742950" cy="276225"/>
          </a:xfrm>
          <a:prstGeom prst="roundRect">
            <a:avLst>
              <a:gd name="adj" fmla="val 27586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85800" y="509587"/>
            <a:ext cx="167640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4F46E5"/>
                </a:solidFill>
                <a:latin typeface="Rubik"/>
              </a:rPr>
              <a:t>ИНТЕРФЕЙС · 4 ЗОНЫ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72825" y="419100"/>
            <a:ext cx="62865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 u="none">
                <a:solidFill>
                  <a:srgbClr val="475569"/>
                </a:solidFill>
                <a:latin typeface="Rubik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" y="914400"/>
            <a:ext cx="11658600" cy="3885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1" i="0" u="none">
                <a:solidFill>
                  <a:srgbClr val="1E1E2F"/>
                </a:solidFill>
                <a:latin typeface="Rubik"/>
              </a:rPr>
              <a:t>Обзор экрана программы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3400" y="1360140"/>
            <a:ext cx="11658600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Rubik"/>
              </a:rPr>
              <a:t>4 главные рабочие зоны, из которых состоит среда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150" y="2877442"/>
            <a:ext cx="5038725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Rubik"/>
              </a:rPr>
              <a:t>Окно просмотра. Здесь оживают персонажи, и происходит всё действие игры.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77000" y="2877442"/>
            <a:ext cx="5038725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Rubik"/>
              </a:rPr>
              <a:t>Панель управления всеми персонажами и предметами вашего проекта.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9150" y="5311973"/>
            <a:ext cx="5038725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Rubik"/>
              </a:rPr>
              <a:t>Меню со всеми цветными командами, разделенными по категориям.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7000" y="5311973"/>
            <a:ext cx="5038725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Rubik"/>
              </a:rPr>
              <a:t>Большое поле по центру, куда мы перетаскиваем блоки для сборки кода.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3450" y="2582167"/>
            <a:ext cx="581025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Rubik"/>
              </a:rPr>
              <a:t>ЗОНА 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7825" y="2548830"/>
            <a:ext cx="2150268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E1E2F"/>
                </a:solidFill>
                <a:latin typeface="Rubik"/>
              </a:rPr>
              <a:t>🎭 Сцена (Stage)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91300" y="2582167"/>
            <a:ext cx="600075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7C3AED"/>
                </a:solidFill>
                <a:latin typeface="Rubik"/>
              </a:rPr>
              <a:t>ЗОНА 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24725" y="2548830"/>
            <a:ext cx="2587823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E1E2F"/>
                </a:solidFill>
                <a:latin typeface="Rubik"/>
              </a:rPr>
              <a:t>👾 Список спрайтов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3450" y="5016698"/>
            <a:ext cx="60960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F172A"/>
                </a:solidFill>
                <a:latin typeface="Rubik"/>
              </a:rPr>
              <a:t>ЗОНА 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76400" y="4983360"/>
            <a:ext cx="2437804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E1E2F"/>
                </a:solidFill>
                <a:latin typeface="Rubik"/>
              </a:rPr>
              <a:t>🎨 Палитра блоков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91300" y="5016698"/>
            <a:ext cx="60960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59669"/>
                </a:solidFill>
                <a:latin typeface="Rubik"/>
              </a:rPr>
              <a:t>ЗОНА 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34250" y="4983360"/>
            <a:ext cx="252531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E1E2F"/>
                </a:solidFill>
                <a:latin typeface="Rubik"/>
              </a:rPr>
              <a:t>🖥️ Рабочая область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33400" y="5953125"/>
            <a:ext cx="11125200" cy="485775"/>
          </a:xfrm>
          <a:prstGeom prst="roundRect">
            <a:avLst>
              <a:gd name="adj" fmla="val 39215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33400" y="433387"/>
            <a:ext cx="1738312" cy="314325"/>
          </a:xfrm>
          <a:prstGeom prst="roundRect">
            <a:avLst>
              <a:gd name="adj" fmla="val 36363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1315700" y="419100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33400" y="2560290"/>
            <a:ext cx="5429250" cy="2592585"/>
          </a:xfrm>
          <a:prstGeom prst="roundRect">
            <a:avLst>
              <a:gd name="adj" fmla="val 7347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29350" y="2447032"/>
            <a:ext cx="5429250" cy="2819251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625" y="2836515"/>
            <a:ext cx="571500" cy="5715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575" y="2723257"/>
            <a:ext cx="571500" cy="5715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075" y="2969865"/>
            <a:ext cx="228600" cy="3048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8925" y="2856607"/>
            <a:ext cx="304800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-314325" y="6105525"/>
            <a:ext cx="12820650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FFFFFF"/>
                </a:solidFill>
                <a:latin typeface="Rubik"/>
              </a:rPr>
              <a:t>✨ У каждого спрайта есть свои личные скрипты, костюмы и звуки!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09587"/>
            <a:ext cx="1528762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4F46E5"/>
                </a:solidFill>
                <a:latin typeface="Rubik"/>
              </a:rPr>
              <a:t>ПЕРСОНАЖИ И МИР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72825" y="419100"/>
            <a:ext cx="62865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 u="none">
                <a:solidFill>
                  <a:srgbClr val="475569"/>
                </a:solidFill>
                <a:latin typeface="Rubi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400" y="914400"/>
            <a:ext cx="11658600" cy="3885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1" i="0" u="none">
                <a:solidFill>
                  <a:srgbClr val="1E1E2F"/>
                </a:solidFill>
                <a:latin typeface="Rubik"/>
              </a:rPr>
              <a:t>Сцена и Спрайты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3400" y="1360140"/>
            <a:ext cx="11658600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Rubik"/>
              </a:rPr>
              <a:t>Кто выполняет команды и где разворачиваются события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625" y="3560415"/>
            <a:ext cx="6400800" cy="2571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1E1E2F"/>
                </a:solidFill>
                <a:latin typeface="Rubik"/>
              </a:rPr>
              <a:t>Спрайт (Sprite)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625" y="3969990"/>
            <a:ext cx="4972050" cy="9066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785"/>
              </a:lnSpc>
            </a:pPr>
            <a:r>
              <a:rPr sz="1275" b="0" i="0" u="none">
                <a:solidFill>
                  <a:srgbClr val="475569"/>
                </a:solidFill>
                <a:latin typeface="Rubik"/>
              </a:rPr>
              <a:t>Это </a:t>
            </a:r>
            <a:r>
              <a:rPr sz="1275" b="1" i="0" u="none">
                <a:solidFill>
                  <a:srgbClr val="475569"/>
                </a:solidFill>
                <a:latin typeface="Rubik"/>
              </a:rPr>
              <a:t>персонаж или объект</a:t>
            </a:r>
            <a:r>
              <a:rPr sz="1275" b="0" i="0" u="none">
                <a:solidFill>
                  <a:srgbClr val="475569"/>
                </a:solidFill>
                <a:latin typeface="Rubik"/>
              </a:rPr>
              <a:t> на экране. Кот, робот, мяч, машинка или звёздочка. </a:t>
            </a:r>
            <a:r>
              <a:t>
</a:t>
            </a:r>
            <a:r>
              <a:rPr sz="1275" b="0" i="0" u="none">
                <a:solidFill>
                  <a:srgbClr val="475569"/>
                </a:solidFill>
                <a:latin typeface="Rubik"/>
              </a:rPr>
              <a:t> Именно спрайт слушается команд и выполняет твой скрипт!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5575" y="3447157"/>
            <a:ext cx="5686425" cy="2571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1E1E2F"/>
                </a:solidFill>
                <a:latin typeface="Rubik"/>
              </a:rPr>
              <a:t>Сцена (Stage)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5575" y="3856732"/>
            <a:ext cx="4972050" cy="11333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785"/>
              </a:lnSpc>
            </a:pPr>
            <a:r>
              <a:rPr sz="1275" b="0" i="0" u="none">
                <a:solidFill>
                  <a:srgbClr val="475569"/>
                </a:solidFill>
                <a:latin typeface="Rubik"/>
              </a:rPr>
              <a:t>Это </a:t>
            </a:r>
            <a:r>
              <a:rPr sz="1275" b="1" i="0" u="none">
                <a:solidFill>
                  <a:srgbClr val="475569"/>
                </a:solidFill>
                <a:latin typeface="Rubik"/>
              </a:rPr>
              <a:t>игровой мир и фон</a:t>
            </a:r>
            <a:r>
              <a:rPr sz="1275" b="0" i="0" u="none">
                <a:solidFill>
                  <a:srgbClr val="475569"/>
                </a:solidFill>
                <a:latin typeface="Rubik"/>
              </a:rPr>
              <a:t>. Космос, подводное царство, замки или футбольное поле. </a:t>
            </a:r>
            <a:r>
              <a:t>
</a:t>
            </a:r>
            <a:r>
              <a:rPr sz="1275" b="0" i="0" u="none">
                <a:solidFill>
                  <a:srgbClr val="475569"/>
                </a:solidFill>
                <a:latin typeface="Rubik"/>
              </a:rPr>
              <a:t> Фон можно менять во время игры, чтобы создавать сюжетные сцены!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33400" y="433387"/>
            <a:ext cx="2247900" cy="314325"/>
          </a:xfrm>
          <a:prstGeom prst="roundRect">
            <a:avLst>
              <a:gd name="adj" fmla="val 36363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1315700" y="419100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33400" y="2405955"/>
            <a:ext cx="5467350" cy="952500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191250" y="2405955"/>
            <a:ext cx="5467350" cy="952500"/>
          </a:xfrm>
          <a:prstGeom prst="roundRect">
            <a:avLst>
              <a:gd name="adj" fmla="val 20000"/>
            </a:avLst>
          </a:prstGeom>
          <a:solidFill>
            <a:srgbClr val="F3E8FF"/>
          </a:solidFill>
          <a:ln w="190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33400" y="4840485"/>
            <a:ext cx="5467350" cy="952500"/>
          </a:xfrm>
          <a:prstGeom prst="roundRect">
            <a:avLst>
              <a:gd name="adj" fmla="val 20000"/>
            </a:avLst>
          </a:prstGeom>
          <a:solidFill>
            <a:srgbClr val="FCE7F3"/>
          </a:solidFill>
          <a:ln w="19050">
            <a:solidFill>
              <a:srgbClr val="DB27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191250" y="4840485"/>
            <a:ext cx="5467350" cy="952500"/>
          </a:xfrm>
          <a:prstGeom prst="roundRect">
            <a:avLst>
              <a:gd name="adj" fmla="val 20000"/>
            </a:avLst>
          </a:prstGeom>
          <a:solidFill>
            <a:srgbClr val="FEF3C7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50" y="2653605"/>
            <a:ext cx="457200" cy="4572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8900" y="2653605"/>
            <a:ext cx="457200" cy="4572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050" y="5088135"/>
            <a:ext cx="457200" cy="4572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8900" y="5088135"/>
            <a:ext cx="457200" cy="4572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8212" y="2767905"/>
            <a:ext cx="142875" cy="2286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3200" y="2767905"/>
            <a:ext cx="228600" cy="2286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5350" y="5202435"/>
            <a:ext cx="228600" cy="22860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67487" y="5202435"/>
            <a:ext cx="200025" cy="228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85800" y="509587"/>
            <a:ext cx="203835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4F46E5"/>
                </a:solidFill>
                <a:latin typeface="Rubik"/>
              </a:rPr>
              <a:t>ПАЛИТРА БЛОКОВ · ЦВЕТА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2825" y="419100"/>
            <a:ext cx="62865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 u="none">
                <a:solidFill>
                  <a:srgbClr val="475569"/>
                </a:solidFill>
                <a:latin typeface="Rubik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400" y="914400"/>
            <a:ext cx="11658600" cy="3885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1" i="0" u="none">
                <a:solidFill>
                  <a:srgbClr val="1E1E2F"/>
                </a:solidFill>
                <a:latin typeface="Rubik"/>
              </a:rPr>
              <a:t>Разноцветные группы блоков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400" y="1360140"/>
            <a:ext cx="11658600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Rubik"/>
              </a:rPr>
              <a:t>Цвет блока сразу подсказывает, за что он отвечает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0650" y="2682180"/>
            <a:ext cx="3500437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E40AF"/>
                </a:solidFill>
                <a:latin typeface="Rubik"/>
              </a:rPr>
              <a:t>🔵 Движение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0650" y="2910780"/>
            <a:ext cx="333375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1E3A8A"/>
                </a:solidFill>
                <a:latin typeface="Rubik"/>
              </a:rPr>
              <a:t>Шаги, повороты, координаты, прыжки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0" y="2682180"/>
            <a:ext cx="3675459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5B21B6"/>
                </a:solidFill>
                <a:latin typeface="Rubik"/>
              </a:rPr>
              <a:t>🟣 Внешний вид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0" y="2910780"/>
            <a:ext cx="3500437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C1D95"/>
                </a:solidFill>
                <a:latin typeface="Rubik"/>
              </a:rPr>
              <a:t>Речь, реплики, смена костюма, эффекты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90650" y="5116710"/>
            <a:ext cx="3062882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9D174D"/>
                </a:solidFill>
                <a:latin typeface="Rubik"/>
              </a:rPr>
              <a:t>💗 Звук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0650" y="5345310"/>
            <a:ext cx="2917031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831843"/>
                </a:solidFill>
                <a:latin typeface="Rubik"/>
              </a:rPr>
              <a:t>Музыка, ноты, звуковые эффекты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0" y="5116710"/>
            <a:ext cx="3575446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92400E"/>
                </a:solidFill>
                <a:latin typeface="Rubik"/>
              </a:rPr>
              <a:t>💛 События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0" y="5345310"/>
            <a:ext cx="3405187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78350F"/>
                </a:solidFill>
                <a:latin typeface="Rubik"/>
              </a:rPr>
              <a:t>Кнопки старта, клики мышью, клавиши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33400" y="5915025"/>
            <a:ext cx="11125200" cy="523875"/>
          </a:xfrm>
          <a:prstGeom prst="roundRect">
            <a:avLst>
              <a:gd name="adj" fmla="val 36363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33400" y="433387"/>
            <a:ext cx="2166937" cy="314325"/>
          </a:xfrm>
          <a:prstGeom prst="roundRect">
            <a:avLst>
              <a:gd name="adj" fmla="val 36363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1315700" y="419100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33400" y="3118395"/>
            <a:ext cx="3371850" cy="1438275"/>
          </a:xfrm>
          <a:prstGeom prst="roundRect">
            <a:avLst>
              <a:gd name="adj" fmla="val 13245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410075" y="3118395"/>
            <a:ext cx="3371850" cy="1438275"/>
          </a:xfrm>
          <a:prstGeom prst="roundRect">
            <a:avLst>
              <a:gd name="adj" fmla="val 13245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286750" y="3118395"/>
            <a:ext cx="3371850" cy="1438275"/>
          </a:xfrm>
          <a:prstGeom prst="roundRect">
            <a:avLst>
              <a:gd name="adj" fmla="val 13245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009775" y="335652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886450" y="335652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763125" y="335652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00D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7650" y="3723233"/>
            <a:ext cx="200025" cy="2286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4325" y="3723233"/>
            <a:ext cx="200025" cy="228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-295275" y="6086475"/>
            <a:ext cx="12782550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FFFFFF"/>
                </a:solidFill>
                <a:latin typeface="Rubik"/>
              </a:rPr>
              <a:t>🧩 </a:t>
            </a:r>
            <a:r>
              <a:rPr sz="1200" b="1" i="0" u="none">
                <a:solidFill>
                  <a:srgbClr val="FFFFFF"/>
                </a:solidFill>
                <a:latin typeface="Rubik"/>
              </a:rPr>
              <a:t>Скрипт (Script)</a:t>
            </a:r>
            <a:r>
              <a:rPr sz="1200" b="0" i="0" u="none">
                <a:solidFill>
                  <a:srgbClr val="FFFFFF"/>
                </a:solidFill>
                <a:latin typeface="Rubik"/>
              </a:rPr>
              <a:t> — это последовательность соединенных блоков, выполняющихся сверху вниз!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09587"/>
            <a:ext cx="1957387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4F46E5"/>
                </a:solidFill>
                <a:latin typeface="Rubik"/>
              </a:rPr>
              <a:t>СБОРКА КОДА · СКРИПТЫ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72825" y="419100"/>
            <a:ext cx="62865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 u="none">
                <a:solidFill>
                  <a:srgbClr val="475569"/>
                </a:solidFill>
                <a:latin typeface="Rubik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914400"/>
            <a:ext cx="11658600" cy="3885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1" i="0" u="none">
                <a:solidFill>
                  <a:srgbClr val="1E1E2F"/>
                </a:solidFill>
                <a:latin typeface="Rubik"/>
              </a:rPr>
              <a:t>Как собираются программы?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1360140"/>
            <a:ext cx="11658600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Rubik"/>
              </a:rPr>
              <a:t>Соединение блоков в единый алгоритм (скрипт)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66900" y="3356520"/>
            <a:ext cx="7048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50" b="1" i="0" u="none">
                <a:solidFill>
                  <a:srgbClr val="FFFFFF"/>
                </a:solidFill>
                <a:latin typeface="Rubik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9087" y="3889920"/>
            <a:ext cx="3800475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1E1E2F"/>
                </a:solidFill>
                <a:latin typeface="Rubik"/>
              </a:rPr>
              <a:t>Выбери блок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575" y="4156620"/>
            <a:ext cx="36195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64748B"/>
                </a:solidFill>
                <a:latin typeface="Rubik"/>
              </a:rPr>
              <a:t>Перетащи нужный блок из Палитры влево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43575" y="3356520"/>
            <a:ext cx="7048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50" b="1" i="0" u="none">
                <a:solidFill>
                  <a:srgbClr val="FFFFFF"/>
                </a:solidFill>
                <a:latin typeface="Rubik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5762" y="3889920"/>
            <a:ext cx="3800475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1E1E2F"/>
                </a:solidFill>
                <a:latin typeface="Rubik"/>
              </a:rPr>
              <a:t>Соедини замки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6250" y="4156620"/>
            <a:ext cx="36195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64748B"/>
                </a:solidFill>
                <a:latin typeface="Rubik"/>
              </a:rPr>
              <a:t>Поднеси блок снизу до щелчка магнита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20250" y="3356520"/>
            <a:ext cx="7048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50" b="1" i="0" u="none">
                <a:solidFill>
                  <a:srgbClr val="F8FAFC"/>
                </a:solidFill>
                <a:latin typeface="Rubik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72437" y="3889920"/>
            <a:ext cx="3800475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1E1E2F"/>
                </a:solidFill>
                <a:latin typeface="Rubik"/>
              </a:rPr>
              <a:t>Получи Скрипт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2925" y="4156620"/>
            <a:ext cx="36195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64748B"/>
                </a:solidFill>
                <a:latin typeface="Rubik"/>
              </a:rPr>
              <a:t>Цепочка блоков готова к выполнению!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33400" y="5953125"/>
            <a:ext cx="11125200" cy="485775"/>
          </a:xfrm>
          <a:prstGeom prst="roundRect">
            <a:avLst>
              <a:gd name="adj" fmla="val 27450"/>
            </a:avLst>
          </a:prstGeom>
          <a:solidFill>
            <a:srgbClr val="FEF3C7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33400" y="433387"/>
            <a:ext cx="2443162" cy="314325"/>
          </a:xfrm>
          <a:prstGeom prst="roundRect">
            <a:avLst>
              <a:gd name="adj" fmla="val 36363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1315700" y="419100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33400" y="2996505"/>
            <a:ext cx="5410200" cy="1720155"/>
          </a:xfrm>
          <a:prstGeom prst="roundRect">
            <a:avLst>
              <a:gd name="adj" fmla="val 11074"/>
            </a:avLst>
          </a:prstGeom>
          <a:solidFill>
            <a:srgbClr val="ECFDF5"/>
          </a:solidFill>
          <a:ln w="19050">
            <a:solidFill>
              <a:srgbClr val="00D1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48400" y="2996505"/>
            <a:ext cx="5410200" cy="1720155"/>
          </a:xfrm>
          <a:prstGeom prst="roundRect">
            <a:avLst>
              <a:gd name="adj" fmla="val 11074"/>
            </a:avLst>
          </a:prstGeom>
          <a:solidFill>
            <a:srgbClr val="FEF2F2"/>
          </a:solidFill>
          <a:ln w="19050">
            <a:solidFill>
              <a:srgbClr val="FF5A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-361950" y="6086475"/>
            <a:ext cx="12915900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92400E"/>
                </a:solidFill>
                <a:latin typeface="Rubik"/>
              </a:rPr>
              <a:t>💡 Совет: перед новым запуском всегда проверяй порядок блоков в твоей цепи!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9587"/>
            <a:ext cx="2233612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4F46E5"/>
                </a:solidFill>
                <a:latin typeface="Rubik"/>
              </a:rPr>
              <a:t>УПРАВЛЕНИЕ · СТАРТ И СТОП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2825" y="419100"/>
            <a:ext cx="62865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 u="none">
                <a:solidFill>
                  <a:srgbClr val="475569"/>
                </a:solidFill>
                <a:latin typeface="Rubik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914400"/>
            <a:ext cx="11658600" cy="3885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1" i="0" u="none">
                <a:solidFill>
                  <a:srgbClr val="1E1E2F"/>
                </a:solidFill>
                <a:latin typeface="Rubik"/>
              </a:rPr>
              <a:t>Запуск и остановка программы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1360140"/>
            <a:ext cx="11658600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Rubik"/>
              </a:rPr>
              <a:t>Главные кнопки над Сценой для управления проектом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150" y="3977580"/>
            <a:ext cx="4933950" cy="45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785"/>
              </a:lnSpc>
            </a:pPr>
            <a:r>
              <a:rPr sz="1275" b="0" i="0" u="none">
                <a:solidFill>
                  <a:srgbClr val="065F46"/>
                </a:solidFill>
                <a:latin typeface="Rubik"/>
              </a:rPr>
              <a:t>Запускает выполнение всех скриптов, у которых в начале стоит блок </a:t>
            </a:r>
            <a:r>
              <a:rPr sz="1275" b="1" i="0" u="none">
                <a:solidFill>
                  <a:srgbClr val="065F46"/>
                </a:solidFill>
                <a:latin typeface="Rubik"/>
              </a:rPr>
              <a:t>«Когда кликнут по 🚩»</a:t>
            </a:r>
            <a:r>
              <a:rPr sz="1275" b="0" i="0" u="none">
                <a:solidFill>
                  <a:srgbClr val="065F46"/>
                </a:solidFill>
                <a:latin typeface="Rubik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4150" y="3977580"/>
            <a:ext cx="4933950" cy="45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785"/>
              </a:lnSpc>
            </a:pPr>
            <a:r>
              <a:rPr sz="1275" b="0" i="0" u="none">
                <a:solidFill>
                  <a:srgbClr val="991B1B"/>
                </a:solidFill>
                <a:latin typeface="Rubik"/>
              </a:rPr>
              <a:t>Мгновенно останавливает движение, звуки и работу абсолютно всех действующих скриптов.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150" y="3282255"/>
            <a:ext cx="857250" cy="542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600" b="0" i="0" u="none">
                <a:solidFill>
                  <a:srgbClr val="1E1E2F"/>
                </a:solidFill>
                <a:latin typeface="Rubik"/>
              </a:rPr>
              <a:t>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43050" y="3329880"/>
            <a:ext cx="2219325" cy="4476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047857"/>
                </a:solidFill>
                <a:latin typeface="Rubik"/>
              </a:rPr>
              <a:t>СТАРТ ПРОГРАММЫ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4150" y="3282255"/>
            <a:ext cx="857250" cy="542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600" b="0" i="0" u="none">
                <a:solidFill>
                  <a:srgbClr val="1E1E2F"/>
                </a:solidFill>
                <a:latin typeface="Rubik"/>
              </a:rPr>
              <a:t>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58050" y="3329880"/>
            <a:ext cx="2495550" cy="4476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B91C1C"/>
                </a:solidFill>
                <a:latin typeface="Rubik"/>
              </a:rPr>
              <a:t>ОСТАНОВКА КОДА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5488" y="3428033"/>
            <a:ext cx="2787848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 dirty="0" err="1">
                <a:solidFill>
                  <a:srgbClr val="065F46"/>
                </a:solidFill>
                <a:latin typeface="Rubik"/>
              </a:rPr>
              <a:t>Зелёный</a:t>
            </a:r>
            <a:r>
              <a:rPr sz="1800" b="1" i="0" u="none" dirty="0">
                <a:solidFill>
                  <a:srgbClr val="065F46"/>
                </a:solidFill>
                <a:latin typeface="Rubik"/>
              </a:rPr>
              <a:t> </a:t>
            </a:r>
            <a:r>
              <a:rPr sz="1800" b="1" i="0" u="none" dirty="0" err="1">
                <a:solidFill>
                  <a:srgbClr val="065F46"/>
                </a:solidFill>
                <a:latin typeface="Rubik"/>
              </a:rPr>
              <a:t>флажок</a:t>
            </a:r>
            <a:endParaRPr sz="1800" b="1" i="0" u="none" dirty="0">
              <a:solidFill>
                <a:srgbClr val="065F46"/>
              </a:solidFill>
              <a:latin typeface="Rubik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258050" y="3447785"/>
            <a:ext cx="3150393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 dirty="0" err="1">
                <a:solidFill>
                  <a:srgbClr val="991B1B"/>
                </a:solidFill>
                <a:latin typeface="Rubik"/>
              </a:rPr>
              <a:t>Красный</a:t>
            </a:r>
            <a:r>
              <a:rPr sz="1800" b="1" i="0" u="none" dirty="0">
                <a:solidFill>
                  <a:srgbClr val="991B1B"/>
                </a:solidFill>
                <a:latin typeface="Rubik"/>
              </a:rPr>
              <a:t> </a:t>
            </a:r>
            <a:r>
              <a:rPr sz="1800" b="1" i="0" u="none" dirty="0" err="1">
                <a:solidFill>
                  <a:srgbClr val="991B1B"/>
                </a:solidFill>
                <a:latin typeface="Rubik"/>
              </a:rPr>
              <a:t>стоп-знак</a:t>
            </a:r>
            <a:endParaRPr sz="1800" b="1" i="0" u="none" dirty="0">
              <a:solidFill>
                <a:srgbClr val="991B1B"/>
              </a:solidFill>
              <a:latin typeface="Rubik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33400" y="5991225"/>
            <a:ext cx="11125200" cy="447675"/>
          </a:xfrm>
          <a:prstGeom prst="roundRect">
            <a:avLst>
              <a:gd name="adj" fmla="val 29787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33400" y="433387"/>
            <a:ext cx="2457450" cy="314325"/>
          </a:xfrm>
          <a:prstGeom prst="roundRect">
            <a:avLst>
              <a:gd name="adj" fmla="val 36363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1315700" y="419100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19800" y="2708820"/>
            <a:ext cx="5638800" cy="2333625"/>
          </a:xfrm>
          <a:prstGeom prst="roundRect">
            <a:avLst>
              <a:gd name="adj" fmla="val 8163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33400" y="3142208"/>
            <a:ext cx="5105400" cy="438150"/>
          </a:xfrm>
          <a:prstGeom prst="roundRect">
            <a:avLst>
              <a:gd name="adj" fmla="val 26086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09600" y="3656558"/>
            <a:ext cx="5029200" cy="438150"/>
          </a:xfrm>
          <a:prstGeom prst="roundRect">
            <a:avLst>
              <a:gd name="adj" fmla="val 26086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09600" y="4170908"/>
            <a:ext cx="5029200" cy="438150"/>
          </a:xfrm>
          <a:prstGeom prst="roundRect">
            <a:avLst>
              <a:gd name="adj" fmla="val 26086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0575" y="2975520"/>
            <a:ext cx="857250" cy="85725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3275558"/>
            <a:ext cx="152400" cy="17145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" y="3789908"/>
            <a:ext cx="171450" cy="17145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" y="4304258"/>
            <a:ext cx="171450" cy="17145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3450" y="3175545"/>
            <a:ext cx="5715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-361950" y="6124575"/>
            <a:ext cx="12915900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4F46E5"/>
                </a:solidFill>
                <a:latin typeface="Rubik"/>
              </a:rPr>
              <a:t>🎉 Поздравляем! Ты только что создал свой самый первый полноценный алгоритм!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09587"/>
            <a:ext cx="224790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4F46E5"/>
                </a:solidFill>
                <a:latin typeface="Rubik"/>
              </a:rPr>
              <a:t>ПРАКТИКА · ПЕРВЫЙ СКРИПТ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2825" y="419100"/>
            <a:ext cx="62865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 u="none">
                <a:solidFill>
                  <a:srgbClr val="475569"/>
                </a:solidFill>
                <a:latin typeface="Rubik"/>
              </a:rPr>
              <a:t>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914400"/>
            <a:ext cx="11658600" cy="3885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1" i="0" u="none">
                <a:solidFill>
                  <a:srgbClr val="1E1E2F"/>
                </a:solidFill>
                <a:latin typeface="Rubik"/>
              </a:rPr>
              <a:t>Практика: Собираем первый скрипт!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400" y="1360140"/>
            <a:ext cx="11658600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Rubik"/>
              </a:rPr>
              <a:t>Пошаговый алгоритм приветствия для нашего спрайта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0600" y="3256508"/>
            <a:ext cx="45529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 i="0" u="none">
                <a:solidFill>
                  <a:srgbClr val="F8FAFC"/>
                </a:solidFill>
                <a:latin typeface="Rubik"/>
              </a:rPr>
              <a:t>Когда кликнут по 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5850" y="3770858"/>
            <a:ext cx="44577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Rubik"/>
              </a:rPr>
              <a:t>идти 10 шагов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5850" y="4285208"/>
            <a:ext cx="44577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Rubik"/>
              </a:rPr>
              <a:t>сказать «Привет!» 2 сек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01532" y="3985170"/>
            <a:ext cx="2675334" cy="2571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650" b="1" i="0" u="none">
                <a:solidFill>
                  <a:srgbClr val="FFFFFF"/>
                </a:solidFill>
                <a:latin typeface="Rubik"/>
              </a:rPr>
              <a:t>Результат работы: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48325" y="4394745"/>
            <a:ext cx="638175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75" b="0" i="0" u="none">
                <a:solidFill>
                  <a:srgbClr val="FFFFFF"/>
                </a:solidFill>
                <a:latin typeface="Rubik"/>
              </a:rPr>
              <a:t>При нажатии на 🚩 спрайт сразу пройдёт 10 шагов вперёд и дружно произнесёт «Привет!» 💬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33400" y="5781526"/>
            <a:ext cx="11125200" cy="657225"/>
          </a:xfrm>
          <a:prstGeom prst="roundRect">
            <a:avLst>
              <a:gd name="adj" fmla="val 28985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33400" y="433387"/>
            <a:ext cx="2095500" cy="314325"/>
          </a:xfrm>
          <a:prstGeom prst="roundRect">
            <a:avLst>
              <a:gd name="adj" fmla="val 36363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1315700" y="419100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33400" y="2942480"/>
            <a:ext cx="5467350" cy="933450"/>
          </a:xfrm>
          <a:prstGeom prst="roundRect">
            <a:avLst>
              <a:gd name="adj" fmla="val 20408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191250" y="2942480"/>
            <a:ext cx="5467350" cy="933450"/>
          </a:xfrm>
          <a:prstGeom prst="roundRect">
            <a:avLst>
              <a:gd name="adj" fmla="val 20408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33400" y="4066430"/>
            <a:ext cx="5467350" cy="933450"/>
          </a:xfrm>
          <a:prstGeom prst="roundRect">
            <a:avLst>
              <a:gd name="adj" fmla="val 20408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191250" y="4066430"/>
            <a:ext cx="5467350" cy="933450"/>
          </a:xfrm>
          <a:prstGeom prst="roundRect">
            <a:avLst>
              <a:gd name="adj" fmla="val 20408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71525" y="3180605"/>
            <a:ext cx="457200" cy="457200"/>
          </a:xfrm>
          <a:prstGeom prst="roundRect">
            <a:avLst>
              <a:gd name="adj" fmla="val 29166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429375" y="3180605"/>
            <a:ext cx="457200" cy="457200"/>
          </a:xfrm>
          <a:prstGeom prst="roundRect">
            <a:avLst>
              <a:gd name="adj" fmla="val 29166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71525" y="4304555"/>
            <a:ext cx="457200" cy="457200"/>
          </a:xfrm>
          <a:prstGeom prst="roundRect">
            <a:avLst>
              <a:gd name="adj" fmla="val 29166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429375" y="4304555"/>
            <a:ext cx="457200" cy="457200"/>
          </a:xfrm>
          <a:prstGeom prst="roundRect">
            <a:avLst>
              <a:gd name="adj" fmla="val 29166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429750" y="5972026"/>
            <a:ext cx="771525" cy="276225"/>
          </a:xfrm>
          <a:prstGeom prst="roundRect">
            <a:avLst>
              <a:gd name="adj" fmla="val 27586"/>
            </a:avLst>
          </a:prstGeom>
          <a:solidFill>
            <a:srgbClr val="00D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277475" y="5972026"/>
            <a:ext cx="1076325" cy="276225"/>
          </a:xfrm>
          <a:prstGeom prst="roundRect">
            <a:avLst>
              <a:gd name="adj" fmla="val 27586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509587"/>
            <a:ext cx="188595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4F46E5"/>
                </a:solidFill>
                <a:latin typeface="Rubik"/>
              </a:rPr>
              <a:t>ИТОГИ УРОКА · ВЫВОДЫ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2825" y="419100"/>
            <a:ext cx="62865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 u="none">
                <a:solidFill>
                  <a:srgbClr val="475569"/>
                </a:solidFill>
                <a:latin typeface="Rubik"/>
              </a:rPr>
              <a:t>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1505545"/>
            <a:ext cx="11658600" cy="3885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1" i="0" u="none">
                <a:solidFill>
                  <a:srgbClr val="1E1E2F"/>
                </a:solidFill>
                <a:latin typeface="Rubik"/>
              </a:rPr>
              <a:t>Что мы сегодня узнали?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400" y="1951285"/>
            <a:ext cx="11658600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 dirty="0">
                <a:solidFill>
                  <a:srgbClr val="64748B"/>
                </a:solidFill>
                <a:latin typeface="Rubik"/>
              </a:rPr>
              <a:t>4 </a:t>
            </a:r>
            <a:r>
              <a:rPr sz="1350" b="0" i="0" u="none" dirty="0" err="1">
                <a:solidFill>
                  <a:srgbClr val="64748B"/>
                </a:solidFill>
                <a:latin typeface="Rubik"/>
              </a:rPr>
              <a:t>главных</a:t>
            </a:r>
            <a:r>
              <a:rPr sz="1350" b="0" i="0" u="none" dirty="0">
                <a:solidFill>
                  <a:srgbClr val="64748B"/>
                </a:solidFill>
                <a:latin typeface="Rubik"/>
              </a:rPr>
              <a:t> </a:t>
            </a:r>
            <a:r>
              <a:rPr sz="1350" b="0" i="0" u="none" dirty="0" err="1">
                <a:solidFill>
                  <a:srgbClr val="64748B"/>
                </a:solidFill>
                <a:latin typeface="Rubik"/>
              </a:rPr>
              <a:t>вывода</a:t>
            </a:r>
            <a:r>
              <a:rPr sz="1350" b="0" i="0" u="none" dirty="0">
                <a:solidFill>
                  <a:srgbClr val="64748B"/>
                </a:solidFill>
                <a:latin typeface="Rubik"/>
              </a:rPr>
              <a:t> </a:t>
            </a:r>
            <a:r>
              <a:rPr sz="1350" b="0" i="0" u="none" dirty="0" err="1">
                <a:solidFill>
                  <a:srgbClr val="64748B"/>
                </a:solidFill>
                <a:latin typeface="Rubik"/>
              </a:rPr>
              <a:t>по</a:t>
            </a:r>
            <a:r>
              <a:rPr sz="1350" b="0" i="0" u="none" dirty="0">
                <a:solidFill>
                  <a:srgbClr val="64748B"/>
                </a:solidFill>
                <a:latin typeface="Rubik"/>
              </a:rPr>
              <a:t> </a:t>
            </a:r>
            <a:r>
              <a:rPr sz="1350" b="0" i="0" u="none" dirty="0" err="1">
                <a:solidFill>
                  <a:srgbClr val="64748B"/>
                </a:solidFill>
                <a:latin typeface="Rubik"/>
              </a:rPr>
              <a:t>теме</a:t>
            </a:r>
            <a:r>
              <a:rPr sz="1350" b="0" i="0" u="none" dirty="0">
                <a:solidFill>
                  <a:srgbClr val="64748B"/>
                </a:solidFill>
                <a:latin typeface="Rubik"/>
              </a:rPr>
              <a:t> </a:t>
            </a:r>
            <a:r>
              <a:rPr sz="1350" b="0" i="0" u="none" dirty="0" err="1">
                <a:solidFill>
                  <a:srgbClr val="64748B"/>
                </a:solidFill>
                <a:latin typeface="Rubik"/>
              </a:rPr>
              <a:t>блочного</a:t>
            </a:r>
            <a:r>
              <a:rPr sz="1350" b="0" i="0" u="none" dirty="0">
                <a:solidFill>
                  <a:srgbClr val="64748B"/>
                </a:solidFill>
                <a:latin typeface="Rubik"/>
              </a:rPr>
              <a:t> </a:t>
            </a:r>
            <a:r>
              <a:rPr sz="1350" b="0" i="0" u="none" dirty="0" err="1">
                <a:solidFill>
                  <a:srgbClr val="64748B"/>
                </a:solidFill>
                <a:latin typeface="Rubik"/>
              </a:rPr>
              <a:t>программирования</a:t>
            </a:r>
            <a:endParaRPr sz="1350" b="0" i="0" u="none" dirty="0">
              <a:solidFill>
                <a:srgbClr val="64748B"/>
              </a:solidFill>
              <a:latin typeface="Rubik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38200" y="6005363"/>
            <a:ext cx="9048750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Rubik"/>
              </a:rPr>
              <a:t>🚀 Теперь ты полностью готов создавать свои собственные игры и мультфильмы!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650" y="3180605"/>
            <a:ext cx="74295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50" b="0" i="0" u="none">
                <a:solidFill>
                  <a:srgbClr val="4F46E5"/>
                </a:solidFill>
                <a:latin typeface="Rubik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1125" y="3218705"/>
            <a:ext cx="447675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1" i="0" u="none">
                <a:solidFill>
                  <a:srgbClr val="1E1E2F"/>
                </a:solidFill>
                <a:latin typeface="Rubik"/>
              </a:rPr>
              <a:t>Среда блочного кода — это удобный конструктор из деталей-пазлов.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6500" y="3180605"/>
            <a:ext cx="74295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50" b="0" i="0" u="none">
                <a:solidFill>
                  <a:srgbClr val="4F46E5"/>
                </a:solidFill>
                <a:latin typeface="Rubik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38975" y="3218705"/>
            <a:ext cx="447675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1" i="0" u="none">
                <a:solidFill>
                  <a:srgbClr val="1E1E2F"/>
                </a:solidFill>
                <a:latin typeface="Rubik"/>
              </a:rPr>
              <a:t>Экран состоит из Сцены, Список спрайтов, Палитры и Рабочей области.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8650" y="4304555"/>
            <a:ext cx="74295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50" b="0" i="0" u="none">
                <a:solidFill>
                  <a:srgbClr val="4F46E5"/>
                </a:solidFill>
                <a:latin typeface="Rubik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1125" y="4342655"/>
            <a:ext cx="447675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1" i="0" u="none">
                <a:solidFill>
                  <a:srgbClr val="1E1E2F"/>
                </a:solidFill>
                <a:latin typeface="Rubik"/>
              </a:rPr>
              <a:t>У каждого цвета блока своя задача (Движение, Внешний вид, Звук, События).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86500" y="4304555"/>
            <a:ext cx="74295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50" b="0" i="0" u="none">
                <a:solidFill>
                  <a:srgbClr val="4F46E5"/>
                </a:solidFill>
                <a:latin typeface="Rubik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38975" y="4342655"/>
            <a:ext cx="447675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1" i="0" u="none">
                <a:solidFill>
                  <a:srgbClr val="1E1E2F"/>
                </a:solidFill>
                <a:latin typeface="Rubik"/>
              </a:rPr>
              <a:t>Скрипты запускаются кнопкой 🚩 и выполняются строго по порядку.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44050" y="6029176"/>
            <a:ext cx="638175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F172A"/>
                </a:solidFill>
                <a:latin typeface="Rubik"/>
              </a:rPr>
              <a:t>Scratch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91775" y="6029176"/>
            <a:ext cx="942975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 dirty="0" err="1">
                <a:solidFill>
                  <a:srgbClr val="0F172A"/>
                </a:solidFill>
                <a:latin typeface="Rubik"/>
              </a:rPr>
              <a:t>EasyCode</a:t>
            </a:r>
            <a:r>
              <a:rPr sz="1050" b="1" i="0" u="none" dirty="0">
                <a:solidFill>
                  <a:srgbClr val="0F172A"/>
                </a:solidFill>
                <a:latin typeface="Rubik"/>
              </a:rPr>
              <a:t> 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33400" y="5867400"/>
            <a:ext cx="11125200" cy="571500"/>
          </a:xfrm>
          <a:prstGeom prst="roundRect">
            <a:avLst>
              <a:gd name="adj" fmla="val 3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33400" y="433387"/>
            <a:ext cx="2333625" cy="314325"/>
          </a:xfrm>
          <a:prstGeom prst="roundRect">
            <a:avLst>
              <a:gd name="adj" fmla="val 36363"/>
            </a:avLst>
          </a:prstGeom>
          <a:solidFill>
            <a:srgbClr val="312E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1315700" y="419100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33400" y="2315467"/>
            <a:ext cx="3606700" cy="838200"/>
          </a:xfrm>
          <a:prstGeom prst="roundRect">
            <a:avLst>
              <a:gd name="adj" fmla="val 22727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292500" y="2315467"/>
            <a:ext cx="3606849" cy="838200"/>
          </a:xfrm>
          <a:prstGeom prst="roundRect">
            <a:avLst>
              <a:gd name="adj" fmla="val 22727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051750" y="2405955"/>
            <a:ext cx="3606700" cy="657225"/>
          </a:xfrm>
          <a:prstGeom prst="roundRect">
            <a:avLst>
              <a:gd name="adj" fmla="val 28985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33400" y="4535685"/>
            <a:ext cx="3606700" cy="657225"/>
          </a:xfrm>
          <a:prstGeom prst="roundRect">
            <a:avLst>
              <a:gd name="adj" fmla="val 28985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292500" y="4445198"/>
            <a:ext cx="3606849" cy="838200"/>
          </a:xfrm>
          <a:prstGeom prst="roundRect">
            <a:avLst>
              <a:gd name="adj" fmla="val 22727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051750" y="4416623"/>
            <a:ext cx="3606700" cy="895350"/>
          </a:xfrm>
          <a:prstGeom prst="roundRect">
            <a:avLst>
              <a:gd name="adj" fmla="val 21276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2700" y="4607123"/>
            <a:ext cx="304800" cy="2667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-342900" y="6038850"/>
            <a:ext cx="12877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Rubik"/>
              </a:rPr>
              <a:t>🎮 Самое время открыть среда блочного кода и составить свой первый скрипт за компьютером!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09587"/>
            <a:ext cx="2124075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A5B4FC"/>
                </a:solidFill>
                <a:latin typeface="Rubik"/>
              </a:rPr>
              <a:t>САМОПРОВЕРКА · ВОПРОСЫ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72825" y="419100"/>
            <a:ext cx="62865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 u="none">
                <a:solidFill>
                  <a:srgbClr val="94A3B8"/>
                </a:solidFill>
                <a:latin typeface="Rubik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914400"/>
            <a:ext cx="11658600" cy="3885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1" i="0" u="none">
                <a:solidFill>
                  <a:srgbClr val="FFFFFF"/>
                </a:solidFill>
                <a:latin typeface="Rubik"/>
              </a:rPr>
              <a:t>Проверь себя!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1360140"/>
            <a:ext cx="11658600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C7D2FE"/>
                </a:solidFill>
                <a:latin typeface="Rubik"/>
              </a:rPr>
              <a:t>Ответь на вопросы, чтобы закрепить знания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2544067"/>
            <a:ext cx="324475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Rubik"/>
              </a:rPr>
              <a:t>1. Из чего собираются программы в нашей среде?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1100" y="2544067"/>
            <a:ext cx="3244899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Rubik"/>
              </a:rPr>
              <a:t>2. В какой зоне отображается результат работы?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0350" y="2634555"/>
            <a:ext cx="324475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Rubik"/>
              </a:rPr>
              <a:t>3. Кто такой Спрайт?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4764285"/>
            <a:ext cx="324475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Rubik"/>
              </a:rPr>
              <a:t>4. Что запускает зелёный флажок 🚩?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100" y="4673798"/>
            <a:ext cx="3244899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Rubik"/>
              </a:rPr>
              <a:t>5. Какого цвета блоки отвечают за Движение?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39037" y="4950023"/>
            <a:ext cx="4032125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25" b="1" i="0" u="none">
                <a:solidFill>
                  <a:srgbClr val="FFFFFF"/>
                </a:solidFill>
                <a:latin typeface="Rubik"/>
              </a:rPr>
              <a:t>Отличная работа!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806</Words>
  <Application>Microsoft Office PowerPoint</Application>
  <PresentationFormat>Широкоэкранный</PresentationFormat>
  <Paragraphs>142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7" baseType="lpstr">
      <vt:lpstr>Calibri</vt:lpstr>
      <vt:lpstr>Rubik</vt:lpstr>
      <vt:lpstr>Arial</vt:lpstr>
      <vt:lpstr>monospace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ЗКУ</cp:lastModifiedBy>
  <cp:revision>3</cp:revision>
  <dcterms:created xsi:type="dcterms:W3CDTF">2013-01-27T09:14:16Z</dcterms:created>
  <dcterms:modified xsi:type="dcterms:W3CDTF">2026-09-23T09:58:43Z</dcterms:modified>
  <cp:category/>
</cp:coreProperties>
</file>