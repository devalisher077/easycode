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Rubik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841b831-c997-4cea-9dea-d18658ce7010.fntdata" /><ns0:Relationship Id="rIdFont21" Type="http://schemas.openxmlformats.org/officeDocument/2006/relationships/font" Target="fonts/07b55119-ed71-49e8-b890-b5c09880007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791200"/>
            <a:ext cx="11125200" cy="533400"/>
          </a:xfrm>
          <a:prstGeom prst="roundRect">
            <a:avLst>
              <a:gd name="adj" fmla="val 28571"/>
            </a:avLst>
          </a:prstGeom>
          <a:solidFill>
            <a:srgbClr val="292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33400"/>
            <a:ext cx="5343525" cy="361950"/>
          </a:xfrm>
          <a:prstGeom prst="roundRect">
            <a:avLst>
              <a:gd name="adj" fmla="val 50000"/>
            </a:avLst>
          </a:prstGeom>
          <a:solidFill>
            <a:srgbClr val="35325D"/>
          </a:solidFill>
          <a:ln w="9525">
            <a:solidFill>
              <a:srgbClr val="4B4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44200" y="576262"/>
            <a:ext cx="914400" cy="276225"/>
          </a:xfrm>
          <a:prstGeom prst="roundRect">
            <a:avLst>
              <a:gd name="adj" fmla="val 50000"/>
            </a:avLst>
          </a:prstGeom>
          <a:solidFill>
            <a:srgbClr val="00D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0" y="2105025"/>
            <a:ext cx="4000500" cy="2667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943600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619125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675" y="2133600"/>
            <a:ext cx="3943350" cy="2609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96600" y="633412"/>
            <a:ext cx="704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Rubik"/>
              </a:rPr>
              <a:t>УРОК 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5953125"/>
            <a:ext cx="906065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E0E7FF"/>
                </a:solidFill>
                <a:latin typeface="Rubik"/>
              </a:rPr>
              <a:t>Цель урока: Собрать свой первый рабочий алгоритм и запустить анимацию спрайта!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623887"/>
            <a:ext cx="578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Rubik"/>
              </a:rPr>
              <a:t>EASYCODE AI • ОСНОВЫ БЛОЧНОГО ПРОГРАММИРОВАНИЯ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503289"/>
            <a:ext cx="718089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Rubik"/>
              </a:rPr>
              <a:t>Создание первой программы из блоков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745110"/>
            <a:ext cx="60007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7D2FE"/>
                </a:solidFill>
                <a:latin typeface="Rubik"/>
              </a:rPr>
              <a:t>Оживляем персонажа: от запуска по зеленому флажку до первого анимационного скрипта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01428"/>
            <a:ext cx="3530500" cy="1813321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1901428"/>
            <a:ext cx="3530649" cy="1813321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1901428"/>
            <a:ext cx="3530500" cy="1813321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05250"/>
            <a:ext cx="3530500" cy="1813321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3905250"/>
            <a:ext cx="7251650" cy="1813321"/>
          </a:xfrm>
          <a:prstGeom prst="roundRect">
            <a:avLst>
              <a:gd name="adj" fmla="val 105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214907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8250" y="214907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99400" y="214907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50" y="41529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8250" y="41529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5720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57150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9200" y="481012"/>
            <a:ext cx="617577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Цели сегодняшнего урока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214907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4F46E5"/>
                </a:solidFill>
                <a:latin typeface="Rubi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644378"/>
            <a:ext cx="398370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Перетаскивание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2987278"/>
            <a:ext cx="3130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Научиться переносить блоки из палитры в рабочую область.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5375" y="214907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Rubi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8250" y="2644378"/>
            <a:ext cx="3983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Блок запуска 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8250" y="2987278"/>
            <a:ext cx="3130599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Использовать шапку «Когда нажат зеленый флажок».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525" y="214907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2563EB"/>
                </a:solidFill>
                <a:latin typeface="Rubi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9400" y="2644378"/>
            <a:ext cx="38925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Движение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9400" y="2987278"/>
            <a:ext cx="3130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Задать перемещение с помощью блока «Идти N шагов».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415290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7C3AED"/>
                </a:solidFill>
                <a:latin typeface="Rubi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4648200"/>
            <a:ext cx="398370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Речь и Звук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991100"/>
            <a:ext cx="3130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Добавить реплики персонажа и речевые бабблы.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5375" y="415290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059669"/>
                </a:solidFill>
                <a:latin typeface="Rubik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8250" y="4648200"/>
            <a:ext cx="761374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Запуск и 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8250" y="4991100"/>
            <a:ext cx="7613749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Проверить работу скрипта и исправить ошибки при сборке.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47912"/>
            <a:ext cx="4895850" cy="2876550"/>
          </a:xfrm>
          <a:prstGeom prst="roundRect">
            <a:avLst>
              <a:gd name="adj" fmla="val 6622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86550" y="2347912"/>
            <a:ext cx="4895850" cy="2876550"/>
          </a:xfrm>
          <a:prstGeom prst="roundRect">
            <a:avLst>
              <a:gd name="adj" fmla="val 6622"/>
            </a:avLst>
          </a:prstGeom>
          <a:solidFill>
            <a:srgbClr val="EEF2FF"/>
          </a:solidFill>
          <a:ln w="1905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3500437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025" y="2671762"/>
            <a:ext cx="114300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37" y="365283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975" y="2671762"/>
            <a:ext cx="1143000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8925" y="30146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850" y="2814637"/>
            <a:ext cx="857250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Как вдохнуть жизнь в персонажа?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306" y="4005262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64748B"/>
                </a:solidFill>
                <a:latin typeface="Rubik"/>
              </a:rPr>
              <a:t>Спрайт без программы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431" y="4386262"/>
            <a:ext cx="53101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Rubik"/>
              </a:rPr>
              <a:t>Это просто статичная картинка на сцене. Она не может двигаться или говорить сама по себе.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0532" y="4005262"/>
            <a:ext cx="30878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4F46E5"/>
                </a:solidFill>
                <a:latin typeface="Rubik"/>
              </a:rPr>
              <a:t>Спрайт со скриптом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9381" y="4386262"/>
            <a:ext cx="53101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Rubik"/>
              </a:rPr>
              <a:t>Настоящий живой актёр! Он точно выполняет твои указания и реагирует на команды.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820275" y="495300"/>
            <a:ext cx="1762125" cy="333375"/>
          </a:xfrm>
          <a:prstGeom prst="roundRect">
            <a:avLst>
              <a:gd name="adj" fmla="val 3428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95562"/>
            <a:ext cx="56959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9650" y="2995612"/>
            <a:ext cx="4895850" cy="438150"/>
          </a:xfrm>
          <a:prstGeom prst="roundRect">
            <a:avLst>
              <a:gd name="adj" fmla="val 3913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9650" y="3662362"/>
            <a:ext cx="4895850" cy="9144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86550" y="2547937"/>
            <a:ext cx="4895850" cy="1143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86550" y="3881437"/>
            <a:ext cx="4895850" cy="11430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9650" y="3662362"/>
            <a:ext cx="3810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3128962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50" y="3119437"/>
            <a:ext cx="1809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890837"/>
            <a:ext cx="320575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224337"/>
            <a:ext cx="345578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762" y="3005137"/>
            <a:ext cx="17145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2689" y="433863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792599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Главный запуск: Блок «Событие»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2675" y="571500"/>
            <a:ext cx="1552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Rubik"/>
              </a:rPr>
              <a:t>Жёлтая категория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3109912"/>
            <a:ext cx="13906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Rubik"/>
              </a:rPr>
              <a:t>когда нажат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3814762"/>
            <a:ext cx="587573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2400E"/>
                </a:solidFill>
                <a:latin typeface="Rubik"/>
              </a:rPr>
              <a:t>Блок-шапка (Event Block)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062412"/>
            <a:ext cx="4572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B45309"/>
                </a:solidFill>
                <a:latin typeface="Rubik"/>
              </a:rPr>
              <a:t>У него нет выемки сверху — он всегда ставится в самом начале алгоритма.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7175" y="2795587"/>
            <a:ext cx="47848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Кнопка «СТАРТ»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7175" y="3024187"/>
            <a:ext cx="4022824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Запускает выполнение программы по клику на флажок над сценой.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2178" y="4129087"/>
            <a:ext cx="47598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ubik"/>
              </a:rPr>
              <a:t>Сигнал к началу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2178" y="4357687"/>
            <a:ext cx="3997821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Rubik"/>
              </a:rPr>
              <a:t>Аналог команды «Внимание, марш!» для персонажей проекта.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96350" y="495300"/>
            <a:ext cx="2686050" cy="333375"/>
          </a:xfrm>
          <a:prstGeom prst="roundRect">
            <a:avLst>
              <a:gd name="adj" fmla="val 34285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52737"/>
            <a:ext cx="4907905" cy="18288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22305" y="2471737"/>
            <a:ext cx="5760094" cy="2590800"/>
          </a:xfrm>
          <a:prstGeom prst="roundRect">
            <a:avLst>
              <a:gd name="adj" fmla="val 7352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50" y="3176587"/>
            <a:ext cx="4260205" cy="47625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46155" y="3205162"/>
            <a:ext cx="5112394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6155" y="3767137"/>
            <a:ext cx="5112394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46155" y="4329112"/>
            <a:ext cx="5112394" cy="409575"/>
          </a:xfrm>
          <a:prstGeom prst="roundRect">
            <a:avLst>
              <a:gd name="adj" fmla="val 27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38300" y="3290887"/>
            <a:ext cx="400050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705088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Первое движение персонажа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0" y="571500"/>
            <a:ext cx="2476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Rubik"/>
              </a:rPr>
              <a:t>Синяя категория «Движение»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843337"/>
            <a:ext cx="435545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Rubik"/>
              </a:rPr>
              <a:t>Число внутри белого овального поля — это расстояние в </a:t>
            </a:r>
            <a:r>
              <a:rPr b="1" sz="1350" i="0" u="none">
                <a:solidFill>
                  <a:srgbClr val="475569"/>
                </a:solidFill>
                <a:latin typeface="Rubik"/>
              </a:rPr>
              <a:t>пикселях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(точечках экрана).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6155" y="2795587"/>
            <a:ext cx="604584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40AF"/>
                </a:solidFill>
                <a:latin typeface="Rubik"/>
              </a:rPr>
              <a:t>Эксперимент с числами: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3309937"/>
            <a:ext cx="7048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идти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3550" y="3309937"/>
            <a:ext cx="4953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309937"/>
            <a:ext cx="8191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шагов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655" y="3319462"/>
            <a:ext cx="9620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Rubik"/>
              </a:rPr>
              <a:t>10 шагов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6425" y="3319462"/>
            <a:ext cx="196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Rubik"/>
              </a:rPr>
              <a:t>Короткий микро-шаг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655" y="3881437"/>
            <a:ext cx="9810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Rubik"/>
              </a:rPr>
              <a:t>50 шагов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300" y="3881437"/>
            <a:ext cx="1785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Rubik"/>
              </a:rPr>
              <a:t>Заметная прогулка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655" y="4443412"/>
            <a:ext cx="10668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D4ED8"/>
                </a:solidFill>
                <a:latin typeface="Rubik"/>
              </a:rPr>
              <a:t>100 шагов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9725" y="4443412"/>
            <a:ext cx="22979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Rubik"/>
              </a:rPr>
              <a:t>Большой прыжок вперёд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10550" y="495300"/>
            <a:ext cx="3371850" cy="333375"/>
          </a:xfrm>
          <a:prstGeom prst="roundRect">
            <a:avLst>
              <a:gd name="adj" fmla="val 34285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19412"/>
            <a:ext cx="5334000" cy="173355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919412"/>
            <a:ext cx="5334000" cy="173355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50" y="3243262"/>
            <a:ext cx="4686300" cy="47625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72250" y="3243262"/>
            <a:ext cx="4686300" cy="47625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09775" y="3357562"/>
            <a:ext cx="914400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62850" y="3357562"/>
            <a:ext cx="914400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0052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005262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5163145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Персонаж заговорил!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950" y="571500"/>
            <a:ext cx="3162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C3AED"/>
                </a:solidFill>
                <a:latin typeface="Rubik"/>
              </a:rPr>
              <a:t>Фиолетовая категория «Внешний вид»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3376612"/>
            <a:ext cx="10763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говорить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5025" y="3376612"/>
            <a:ext cx="10096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Привет!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9425" y="3376612"/>
            <a:ext cx="7524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2 сек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7775" y="3910012"/>
            <a:ext cx="44672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Rubik"/>
              </a:rPr>
              <a:t>Временная реплика: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Речевое облако появится и исчезнет ровно через 2 секунды.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3376612"/>
            <a:ext cx="9906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сказать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8100" y="3376612"/>
            <a:ext cx="10096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Привет!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3910012"/>
            <a:ext cx="4381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Rubik"/>
              </a:rPr>
              <a:t>Постоянная реплика: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Текст останется на экране, пока его не отменит другой блок.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82100" y="495300"/>
            <a:ext cx="2400300" cy="333375"/>
          </a:xfrm>
          <a:prstGeom prst="roundRect">
            <a:avLst>
              <a:gd name="adj" fmla="val 34285"/>
            </a:avLst>
          </a:prstGeom>
          <a:solidFill>
            <a:srgbClr val="FCE7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71787"/>
            <a:ext cx="4907905" cy="18288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22305" y="2798564"/>
            <a:ext cx="5760094" cy="1975246"/>
          </a:xfrm>
          <a:prstGeom prst="roundRect">
            <a:avLst>
              <a:gd name="adj" fmla="val 9644"/>
            </a:avLst>
          </a:prstGeom>
          <a:solidFill>
            <a:srgbClr val="FDF2F8"/>
          </a:solidFill>
          <a:ln w="19050">
            <a:solidFill>
              <a:srgbClr val="FBC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50" y="3195637"/>
            <a:ext cx="4260205" cy="47625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3900487"/>
            <a:ext cx="4260205" cy="47625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33650" y="3309937"/>
            <a:ext cx="542925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7900" y="4014787"/>
            <a:ext cx="542925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155" y="3141464"/>
            <a:ext cx="18097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6413301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Добавляем звуки и эмоции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0" y="571500"/>
            <a:ext cx="2190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B2777"/>
                </a:solidFill>
                <a:latin typeface="Rubik"/>
              </a:rPr>
              <a:t>Розовая категория «Звук»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6155" y="3122414"/>
            <a:ext cx="6045844" cy="257175"/>
          </a:xfrm>
          <a:prstGeom prst="rect">
            <a:avLst/>
          </a:prstGeom>
          <a:noFill/>
        </p:spPr>
        <p:txBody>
          <a:bodyPr wrap="none" lIns="257175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E185D"/>
                </a:solidFill>
                <a:latin typeface="Rubik"/>
              </a:rPr>
              <a:t>Формула оживления: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6155" y="3531989"/>
            <a:ext cx="604584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831843"/>
                </a:solidFill>
                <a:latin typeface="Rubik"/>
              </a:rPr>
              <a:t>Движение + Речь + Звуковое сопровождение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6155" y="3970139"/>
            <a:ext cx="5207644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9D174D"/>
                </a:solidFill>
                <a:latin typeface="Rubik"/>
              </a:rPr>
              <a:t>Сочетание этих трех элементов создаёт впечатление настоящего мультфильма!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3328987"/>
            <a:ext cx="1643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включить звук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8900" y="3328987"/>
            <a:ext cx="6381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Мяу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4033837"/>
            <a:ext cx="13144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играть звук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43150" y="4033837"/>
            <a:ext cx="6381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Поп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6075" y="4033837"/>
            <a:ext cx="10763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до конца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9837"/>
            <a:ext cx="5202435" cy="2514600"/>
          </a:xfrm>
          <a:prstGeom prst="roundRect">
            <a:avLst>
              <a:gd name="adj" fmla="val 757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3450" y="2833687"/>
            <a:ext cx="4554735" cy="438150"/>
          </a:xfrm>
          <a:prstGeom prst="roundRect">
            <a:avLst>
              <a:gd name="adj" fmla="val 34782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50" y="3271837"/>
            <a:ext cx="4554735" cy="47625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50" y="3748087"/>
            <a:ext cx="4554735" cy="4762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" y="4224337"/>
            <a:ext cx="4554735" cy="476250"/>
          </a:xfrm>
          <a:prstGeom prst="roundRect">
            <a:avLst>
              <a:gd name="adj" fmla="val 8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16835" y="2566987"/>
            <a:ext cx="5465564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16835" y="3195637"/>
            <a:ext cx="5465564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16835" y="3824287"/>
            <a:ext cx="5465564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16835" y="4452937"/>
            <a:ext cx="5465564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38300" y="3386137"/>
            <a:ext cx="428625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09775" y="3862387"/>
            <a:ext cx="1352550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33650" y="4338637"/>
            <a:ext cx="542925" cy="247650"/>
          </a:xfrm>
          <a:prstGeom prst="roundRect">
            <a:avLst>
              <a:gd name="adj" fmla="val 461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60" y="26908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8760" y="33194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60" y="39481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60" y="457676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2967037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2986087"/>
            <a:ext cx="123825" cy="1333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Собираем последовательный скрипт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47987"/>
            <a:ext cx="13906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Rubik"/>
              </a:rPr>
              <a:t>когда нажат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950" y="3405187"/>
            <a:ext cx="7048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идти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3550" y="3405187"/>
            <a:ext cx="5238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62175" y="3405187"/>
            <a:ext cx="8191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шагов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" y="3881437"/>
            <a:ext cx="10763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говорить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5025" y="3881437"/>
            <a:ext cx="15001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Привет, мир!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7575" y="3881437"/>
            <a:ext cx="7524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2 сек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950" y="4357687"/>
            <a:ext cx="1643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Rubik"/>
              </a:rPr>
              <a:t>включить звук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4357687"/>
            <a:ext cx="6381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Rubik"/>
              </a:rPr>
              <a:t>Мяу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35885" y="26908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Rubik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9760" y="2728912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Rubik"/>
              </a:rPr>
              <a:t>Берём жёлтую шапку 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885" y="331946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Rubik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9760" y="3357562"/>
            <a:ext cx="3702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Rubik"/>
              </a:rPr>
              <a:t>Прикрепляем снизу блок движения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885" y="394811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Rubik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9760" y="3986212"/>
            <a:ext cx="3131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Rubik"/>
              </a:rPr>
              <a:t>Добавляем блок реплики речи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5885" y="4576762"/>
            <a:ext cx="5524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Rubik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9760" y="4614862"/>
            <a:ext cx="329803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Rubik"/>
              </a:rPr>
              <a:t>Завершаем звуковым эффектом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1471"/>
            <a:ext cx="3530500" cy="2129432"/>
          </a:xfrm>
          <a:prstGeom prst="roundRect">
            <a:avLst>
              <a:gd name="adj" fmla="val 8946"/>
            </a:avLst>
          </a:prstGeom>
          <a:solidFill>
            <a:srgbClr val="FFFFFF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2721471"/>
            <a:ext cx="3530649" cy="2129432"/>
          </a:xfrm>
          <a:prstGeom prst="roundRect">
            <a:avLst>
              <a:gd name="adj" fmla="val 8946"/>
            </a:avLst>
          </a:prstGeom>
          <a:solidFill>
            <a:srgbClr val="FFFFFF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2721471"/>
            <a:ext cx="3530500" cy="2129432"/>
          </a:xfrm>
          <a:prstGeom prst="roundRect">
            <a:avLst>
              <a:gd name="adj" fmla="val 8946"/>
            </a:avLst>
          </a:prstGeom>
          <a:solidFill>
            <a:srgbClr val="FFFFFF"/>
          </a:solidFill>
          <a:ln w="190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69121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250" y="2969121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400" y="2969121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" y="3064371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025" y="3064371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837" y="3064371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Ошибки новичков и как их исправить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502521"/>
            <a:ext cx="398370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Разрыв в скрипте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3883521"/>
            <a:ext cx="31304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Rubik"/>
              </a:rPr>
              <a:t>Проблема: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Блоки не сцеплены.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Rubik"/>
              </a:rPr>
              <a:t>Решение: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Соединяй блоки до характерного щелчка!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8250" y="3502521"/>
            <a:ext cx="3983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Забыли старт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8250" y="3883521"/>
            <a:ext cx="3130599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Rubik"/>
              </a:rPr>
              <a:t>Проблема: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Нет жёлтой шапки.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Rubik"/>
              </a:rPr>
              <a:t>Решение: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Всегда ставь блок «Когда нажат 🚩» первым!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9400" y="3502521"/>
            <a:ext cx="38925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Rubik"/>
              </a:rPr>
              <a:t>Спрайт убежал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9400" y="3883521"/>
            <a:ext cx="31304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Rubik"/>
              </a:rPr>
              <a:t>Проблема: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Персонаж за краем.</a:t>
            </a:r>
            <a:r>
              <a:t>
</a:t>
            </a:r>
            <a:r>
              <a:rPr b="1" sz="1350" i="0" u="none">
                <a:solidFill>
                  <a:srgbClr val="475569"/>
                </a:solidFill>
                <a:latin typeface="Rubik"/>
              </a:rPr>
              <a:t>Решение:</a:t>
            </a:r>
            <a:r>
              <a:rPr b="0" sz="1350" i="0" u="none">
                <a:solidFill>
                  <a:srgbClr val="475569"/>
                </a:solidFill>
                <a:latin typeface="Rubik"/>
              </a:rPr>
              <a:t> Просто перетащи его обратно мышкой на сцену.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33475"/>
            <a:ext cx="10972800" cy="5267325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96400" y="495300"/>
            <a:ext cx="2286000" cy="333375"/>
          </a:xfrm>
          <a:prstGeom prst="roundRect">
            <a:avLst>
              <a:gd name="adj" fmla="val 34285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5524500"/>
            <a:ext cx="10248900" cy="514350"/>
          </a:xfrm>
          <a:prstGeom prst="roundRect">
            <a:avLst>
              <a:gd name="adj" fmla="val 22222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1550" y="3033712"/>
            <a:ext cx="5029200" cy="5143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1250" y="3033712"/>
            <a:ext cx="5029200" cy="5143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1550" y="3738562"/>
            <a:ext cx="5029200" cy="5143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738562"/>
            <a:ext cx="5029200" cy="5143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495425"/>
            <a:ext cx="3048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319563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19563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50" y="3900487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900487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6863357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Практическое мини-задание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0" y="571500"/>
            <a:ext cx="2076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Rubik"/>
              </a:rPr>
              <a:t>Самостоятельная сборка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5676900"/>
            <a:ext cx="9886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F46E5"/>
                </a:solidFill>
                <a:latin typeface="Rubik"/>
              </a:rPr>
              <a:t>💡 Подсказка: Используй ровно 4 блока из разных категорий!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750" y="1495425"/>
            <a:ext cx="791348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1B4B"/>
                </a:solidFill>
                <a:latin typeface="Rubik"/>
              </a:rPr>
              <a:t>Задача: Создать скрипт «Приветствие и разминка»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3186112"/>
            <a:ext cx="265509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ubik"/>
              </a:rPr>
              <a:t>Старт при нажатии на 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3186112"/>
            <a:ext cx="26312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ubik"/>
              </a:rPr>
              <a:t>Пройти 30 шагов вперёд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7800" y="3890962"/>
            <a:ext cx="402431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ubik"/>
              </a:rPr>
              <a:t>Сказать: «Я умею программировать!»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0" y="3890962"/>
            <a:ext cx="391715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Rubik"/>
              </a:rPr>
              <a:t>Сыграть звук и пройти ещё 30 шагов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5391150" cy="9906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719387"/>
            <a:ext cx="5391150" cy="9906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00487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00487"/>
            <a:ext cx="539115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86087"/>
            <a:ext cx="396626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29860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14813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4148137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76" y="3100387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487" y="31003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837" y="4262437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487" y="4262437"/>
            <a:ext cx="20002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Rubik"/>
              </a:rPr>
              <a:t>Итоги урока: Твой чек-лист успехов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6276" y="2967037"/>
            <a:ext cx="4442073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b="1" sz="1500" i="0" u="none">
                <a:solidFill>
                  <a:srgbClr val="1E293B"/>
                </a:solidFill>
                <a:latin typeface="Rubik"/>
              </a:rPr>
              <a:t>Умею собирать блоки в единый цепочечный скрипт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0" y="3090862"/>
            <a:ext cx="5143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b="1" sz="1500" i="0" u="none">
                <a:solidFill>
                  <a:srgbClr val="1E293B"/>
                </a:solidFill>
                <a:latin typeface="Rubik"/>
              </a:rPr>
              <a:t>Знаю, зачем нужен блок «Когда нажат 🚩»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6850" y="4252912"/>
            <a:ext cx="496490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b="1" sz="1500" i="0" u="none">
                <a:solidFill>
                  <a:srgbClr val="1E293B"/>
                </a:solidFill>
                <a:latin typeface="Rubik"/>
              </a:rPr>
              <a:t>Умею совмещать движение, текст и звук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4252912"/>
            <a:ext cx="50839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b="1" sz="1500" i="0" u="none">
                <a:solidFill>
                  <a:srgbClr val="1E293B"/>
                </a:solidFill>
                <a:latin typeface="Rubik"/>
              </a:rPr>
              <a:t>Умею запускать и тестировать программу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5400675"/>
            <a:ext cx="11125200" cy="923925"/>
          </a:xfrm>
          <a:prstGeom prst="roundRect">
            <a:avLst>
              <a:gd name="adj" fmla="val 20618"/>
            </a:avLst>
          </a:prstGeom>
          <a:solidFill>
            <a:srgbClr val="664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53625" y="600075"/>
            <a:ext cx="1704975" cy="276225"/>
          </a:xfrm>
          <a:prstGeom prst="roundRect">
            <a:avLst>
              <a:gd name="adj" fmla="val 50000"/>
            </a:avLst>
          </a:prstGeom>
          <a:solidFill>
            <a:srgbClr val="00D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200275"/>
            <a:ext cx="5448300" cy="857250"/>
          </a:xfrm>
          <a:prstGeom prst="roundRect">
            <a:avLst>
              <a:gd name="adj" fmla="val 17777"/>
            </a:avLst>
          </a:prstGeom>
          <a:solidFill>
            <a:srgbClr val="302D59"/>
          </a:solidFill>
          <a:ln w="9525">
            <a:solidFill>
              <a:srgbClr val="353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200275"/>
            <a:ext cx="5448300" cy="857250"/>
          </a:xfrm>
          <a:prstGeom prst="roundRect">
            <a:avLst>
              <a:gd name="adj" fmla="val 17777"/>
            </a:avLst>
          </a:prstGeom>
          <a:solidFill>
            <a:srgbClr val="302D59"/>
          </a:solidFill>
          <a:ln w="9525">
            <a:solidFill>
              <a:srgbClr val="353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3286125"/>
            <a:ext cx="5448300" cy="857250"/>
          </a:xfrm>
          <a:prstGeom prst="roundRect">
            <a:avLst>
              <a:gd name="adj" fmla="val 17777"/>
            </a:avLst>
          </a:prstGeom>
          <a:solidFill>
            <a:srgbClr val="302D59"/>
          </a:solidFill>
          <a:ln w="9525">
            <a:solidFill>
              <a:srgbClr val="353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286125"/>
            <a:ext cx="5448300" cy="857250"/>
          </a:xfrm>
          <a:prstGeom prst="roundRect">
            <a:avLst>
              <a:gd name="adj" fmla="val 17777"/>
            </a:avLst>
          </a:prstGeom>
          <a:solidFill>
            <a:srgbClr val="302D59"/>
          </a:solidFill>
          <a:ln w="9525">
            <a:solidFill>
              <a:srgbClr val="3532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672137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533400"/>
            <a:ext cx="5788223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Rubik"/>
              </a:rPr>
              <a:t>Самопроверка и Финиш!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6025" y="657225"/>
            <a:ext cx="1495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Rubik"/>
              </a:rPr>
              <a:t>ОТЛИЧНАЯ РАБОТА!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400300"/>
            <a:ext cx="662582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59E0B"/>
                </a:solidFill>
                <a:latin typeface="Rubik"/>
              </a:rPr>
              <a:t>Вопрос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2667000"/>
            <a:ext cx="631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0E7FF"/>
                </a:solidFill>
                <a:latin typeface="Rubik"/>
              </a:rPr>
              <a:t>Что произойдет, если блоки не соединены между собой?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0325" y="2400300"/>
            <a:ext cx="5781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82F6"/>
                </a:solidFill>
                <a:latin typeface="Rubik"/>
              </a:rPr>
              <a:t>Вопрос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2667000"/>
            <a:ext cx="5781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0E7FF"/>
                </a:solidFill>
                <a:latin typeface="Rubik"/>
              </a:rPr>
              <a:t>Какого цвета блоки отвечают за движение персонажа?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3486150"/>
            <a:ext cx="662582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B5CF6"/>
                </a:solidFill>
                <a:latin typeface="Rubik"/>
              </a:rPr>
              <a:t>Вопрос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752850"/>
            <a:ext cx="631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0E7FF"/>
                </a:solidFill>
                <a:latin typeface="Rubik"/>
              </a:rPr>
              <a:t>С какого блока всегда начинается выполнение программы?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486150"/>
            <a:ext cx="578167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C4899"/>
                </a:solidFill>
                <a:latin typeface="Rubik"/>
              </a:rPr>
              <a:t>Вопрос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3752850"/>
            <a:ext cx="57816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E0E7FF"/>
                </a:solidFill>
                <a:latin typeface="Rubik"/>
              </a:rPr>
              <a:t>Как изменить время отображения речевого облака?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629275"/>
            <a:ext cx="772596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Rubik"/>
              </a:rPr>
              <a:t>Готов практиковаться?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886450"/>
            <a:ext cx="735806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7D2FE"/>
                </a:solidFill>
                <a:latin typeface="Rubik"/>
              </a:rPr>
              <a:t>Открывай среду Scratch и создай свой первый интерактивный скрипт!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382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0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8107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26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200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Rubi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1040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Rubik"/>
              </a:rPr>
              <a:t>https://images.squarespace-cdn.com/content/v1/67e33abefa55051b946b896b/1742945981901-504LZEVZKMWOSZ9QGREM/image-asset.png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23962"/>
            <a:ext cx="2905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Rubik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Rubik"/>
              </a:rPr>
              <a:t>www.codingkids.com.au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9513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Rubik"/>
              </a:rPr>
              <a:t>https://media.easy-peasy.ai/12ed4b74-bb3b-45d7-84e2-8f55ff168511/34921674-2781-409c-8e75-02c009dc867b_medium.webp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1995487"/>
            <a:ext cx="19645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Rubik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Rubik"/>
              </a:rPr>
              <a:t>easy-peasy.ai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